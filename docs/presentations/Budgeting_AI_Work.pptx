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97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240" y="2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2175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meter everything we buy — power, water, cloud. AI work is the first big purchase with no gauge on it. This deck asks whether you can actually put it on a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Fifteen seconds. A token is a small chunk of text. AI work is sold by the token, in and out — the way power is sold by the kilowatt-hour. That's the whole unit of this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wasn't a demo. Three disciplines: we wrote our predictions down first, we froze every input, and we read the real meter on every call instead of estimating.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one everyday task 20 times and the bill barely moves. 62 of 67 tasks landed in a tight band; the middle task wobbled just 4.5% run to run. That's budgetable.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everything is budgetable. The bill wobbles more the more freedom the AI has over how much it writes — pinned tasks barely move, open-ended thinking is the wild card that can swing up to 20%. And you can't blame the model: across Haiku, Sonnet, and Opus the typical wobble is about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carry a price you can call in advance. Templates that cap output made every task cheaper; templates that demand more made every task dearer. 24 predictions, 24 hits — every task on every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Telling the AI to be careful and thorough bought almost no consistency. Giving it an actual template bought nearly all of it. Structure, not vibes.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took one task and tightened it on purpose, then gave a budget model and a premium model the very same template. It made the budget model cheaper and far steadier — but head-to-head, the premium model's writing was still preferred 12 to 1 on short copy. Structure buys consistency, not capability. And note who did that grading: an AI judge.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twist. We hired an AI to grade the AI's work. It was confident, consistent, and unanimous with itself — and it agreed with the human owner 54.9 percent of the time. A coin flip.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bad judge — fuzzy rules. We audited all 65 disagreements. 83 percent traced to rule-wording two careful readers could each read differently. Zero were the judge misapplying its instructions. Fix the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rules for anyone buying AI. Budget it like a utility. Buy structure, not vibes. And never trust an ungraded grader.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program ran on about 212 dollars of API spend, read straight off the providers' own billing meters — 190.34 dollars to Anthropic plus 21.18 to the judge. The decisive experiment — the one behind findings 2 and 3 and the twist — was about 49 dollars of a 100-dollar ceiling. And harness and provider meters agreed to within 0.3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What's next: can the fuzzy rules be sharpened, or is good work genuinely in the eye of the beholder? The test is simple — have two or three people grade the same work, blind, and see whether they 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public. All data and analysis are open, and every number in this deck re-derives from the raw records — no AI account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Appendix. Where every number in the deck comes from, mapped to its source file in the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36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2008239"/>
            <a:ext cx="14716125" cy="2996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100" kern="0" spc="-20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are buying intelligence with </a:t>
            </a:r>
            <a:r>
              <a:rPr lang="en-US" sz="8100" kern="0" spc="-203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meter on the wall.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1143000" y="5282514"/>
            <a:ext cx="11576685" cy="1362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meter electricity, water, and cloud servers down to the unit. AI work? No gauge, no unit, no line on the budget.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142999" y="8763000"/>
            <a:ext cx="901425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3000" kern="0" spc="-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— what would it even mean to put a number on it?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968288" y="9006855"/>
            <a:ext cx="4594384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kern="0" spc="72" dirty="0">
                <a:solidFill>
                  <a:srgbClr val="9A9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Intelligence · Experiment 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6867909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36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15-SECOND EXPLAINER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94445"/>
            <a:ext cx="16867909" cy="830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0" b="1" kern="0" spc="-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 token?</a:t>
            </a:r>
            <a:endParaRPr lang="en-US" sz="6000" b="1" dirty="0"/>
          </a:p>
        </p:txBody>
      </p:sp>
      <p:sp>
        <p:nvSpPr>
          <p:cNvPr id="4" name="Text 2"/>
          <p:cNvSpPr/>
          <p:nvPr/>
        </p:nvSpPr>
        <p:spPr>
          <a:xfrm>
            <a:off x="1143000" y="2415480"/>
            <a:ext cx="147161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2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</a:t>
            </a:r>
            <a:r>
              <a:rPr lang="en-US" sz="25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small chunk of text — about a short word, or a piece of one — that an AI reads or writes. It's the unit the work is sold in.</a:t>
            </a:r>
            <a:endParaRPr lang="en-US" sz="2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588" b="-3588"/>
          <a:stretch/>
        </p:blipFill>
        <p:spPr>
          <a:xfrm>
            <a:off x="1371599" y="3563397"/>
            <a:ext cx="9456471" cy="56568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 rot="-30000">
            <a:off x="11050042" y="3589883"/>
            <a:ext cx="6096000" cy="5857875"/>
          </a:xfrm>
          <a:prstGeom prst="roundRect">
            <a:avLst>
              <a:gd name="adj" fmla="val 3252"/>
            </a:avLst>
          </a:prstGeom>
          <a:solidFill>
            <a:srgbClr val="FBF3E2"/>
          </a:solidFill>
          <a:ln w="28575">
            <a:solidFill>
              <a:srgbClr val="C9A227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11429972" y="5170606"/>
            <a:ext cx="3456829" cy="449441"/>
          </a:xfrm>
          <a:prstGeom prst="roundRect">
            <a:avLst>
              <a:gd name="adj" fmla="val 16954"/>
            </a:avLst>
          </a:prstGeom>
          <a:solidFill>
            <a:srgbClr val="F3E1B0"/>
          </a:solidFill>
          <a:ln/>
        </p:spPr>
        <p:txBody>
          <a:bodyPr/>
          <a:lstStyle/>
          <a:p>
            <a:r>
              <a:rPr lang="en-US" b="1" kern="0" spc="54" dirty="0">
                <a:solidFill>
                  <a:srgbClr val="8A6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— not the data</a:t>
            </a:r>
            <a:endParaRPr lang="en-US" dirty="0"/>
          </a:p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1544273" y="5199181"/>
            <a:ext cx="3456830" cy="43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435326" y="5764177"/>
            <a:ext cx="5478516" cy="1250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4A3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 is metered in tokens the way electricity is metered in kilowatt-hours.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1447162" y="7120396"/>
            <a:ext cx="5478516" cy="804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6B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pay per unit — per token in, per token out. The meter just counts units.</a:t>
            </a:r>
            <a:endParaRPr lang="en-US" sz="20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67228"/>
            <a:ext cx="17145000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36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94445"/>
            <a:ext cx="16867909" cy="830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0" b="1" kern="0" spc="-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ran it like a lab, not a demo.</a:t>
            </a:r>
            <a:endParaRPr lang="en-US" sz="6000" b="1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2624" t="4684" r="3003" b="9960"/>
          <a:stretch>
            <a:fillRect/>
          </a:stretch>
        </p:blipFill>
        <p:spPr>
          <a:xfrm>
            <a:off x="3206338" y="2781224"/>
            <a:ext cx="11827824" cy="59708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176022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36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39362" y="1447833"/>
            <a:ext cx="16720013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250" kern="0" spc="-1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task costs about the same, every time.</a:t>
            </a:r>
            <a:endParaRPr lang="en-US" sz="5250" dirty="0"/>
          </a:p>
        </p:txBody>
      </p:sp>
      <p:sp>
        <p:nvSpPr>
          <p:cNvPr id="4" name="Shape 2"/>
          <p:cNvSpPr/>
          <p:nvPr/>
        </p:nvSpPr>
        <p:spPr>
          <a:xfrm>
            <a:off x="1143000" y="334305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5" name="Shape 3"/>
          <p:cNvSpPr/>
          <p:nvPr/>
        </p:nvSpPr>
        <p:spPr>
          <a:xfrm>
            <a:off x="1457325" y="334305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6" name="Shape 4"/>
          <p:cNvSpPr/>
          <p:nvPr/>
        </p:nvSpPr>
        <p:spPr>
          <a:xfrm>
            <a:off x="1771650" y="334305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7" name="Shape 5"/>
          <p:cNvSpPr/>
          <p:nvPr/>
        </p:nvSpPr>
        <p:spPr>
          <a:xfrm>
            <a:off x="2085975" y="334305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8" name="Shape 6"/>
          <p:cNvSpPr/>
          <p:nvPr/>
        </p:nvSpPr>
        <p:spPr>
          <a:xfrm>
            <a:off x="2400300" y="334305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9" name="Shape 7"/>
          <p:cNvSpPr/>
          <p:nvPr/>
        </p:nvSpPr>
        <p:spPr>
          <a:xfrm>
            <a:off x="2714625" y="334305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10" name="Shape 8"/>
          <p:cNvSpPr/>
          <p:nvPr/>
        </p:nvSpPr>
        <p:spPr>
          <a:xfrm>
            <a:off x="3028950" y="334305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11" name="Shape 9"/>
          <p:cNvSpPr/>
          <p:nvPr/>
        </p:nvSpPr>
        <p:spPr>
          <a:xfrm>
            <a:off x="3343275" y="334305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334305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13" name="Shape 11"/>
          <p:cNvSpPr/>
          <p:nvPr/>
        </p:nvSpPr>
        <p:spPr>
          <a:xfrm>
            <a:off x="3971925" y="334305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14" name="Shape 12"/>
          <p:cNvSpPr/>
          <p:nvPr/>
        </p:nvSpPr>
        <p:spPr>
          <a:xfrm>
            <a:off x="4286250" y="334305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15" name="Shape 13"/>
          <p:cNvSpPr/>
          <p:nvPr/>
        </p:nvSpPr>
        <p:spPr>
          <a:xfrm>
            <a:off x="4600575" y="334305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16" name="Shape 14"/>
          <p:cNvSpPr/>
          <p:nvPr/>
        </p:nvSpPr>
        <p:spPr>
          <a:xfrm>
            <a:off x="4914900" y="334305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17" name="Shape 15"/>
          <p:cNvSpPr/>
          <p:nvPr/>
        </p:nvSpPr>
        <p:spPr>
          <a:xfrm>
            <a:off x="5229225" y="334305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18" name="Shape 16"/>
          <p:cNvSpPr/>
          <p:nvPr/>
        </p:nvSpPr>
        <p:spPr>
          <a:xfrm>
            <a:off x="5543550" y="334305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19" name="Shape 17"/>
          <p:cNvSpPr/>
          <p:nvPr/>
        </p:nvSpPr>
        <p:spPr>
          <a:xfrm>
            <a:off x="5857875" y="334305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2200" y="334305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86525" y="334305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22" name="Shape 20"/>
          <p:cNvSpPr/>
          <p:nvPr/>
        </p:nvSpPr>
        <p:spPr>
          <a:xfrm>
            <a:off x="6800850" y="334305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23" name="Shape 21"/>
          <p:cNvSpPr/>
          <p:nvPr/>
        </p:nvSpPr>
        <p:spPr>
          <a:xfrm>
            <a:off x="7115175" y="334305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" y="365737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25" name="Shape 23"/>
          <p:cNvSpPr/>
          <p:nvPr/>
        </p:nvSpPr>
        <p:spPr>
          <a:xfrm>
            <a:off x="1457325" y="365737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26" name="Shape 24"/>
          <p:cNvSpPr/>
          <p:nvPr/>
        </p:nvSpPr>
        <p:spPr>
          <a:xfrm>
            <a:off x="1771650" y="365737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27" name="Shape 25"/>
          <p:cNvSpPr/>
          <p:nvPr/>
        </p:nvSpPr>
        <p:spPr>
          <a:xfrm>
            <a:off x="2085975" y="365737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28" name="Shape 26"/>
          <p:cNvSpPr/>
          <p:nvPr/>
        </p:nvSpPr>
        <p:spPr>
          <a:xfrm>
            <a:off x="2400300" y="365737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29" name="Shape 27"/>
          <p:cNvSpPr/>
          <p:nvPr/>
        </p:nvSpPr>
        <p:spPr>
          <a:xfrm>
            <a:off x="2714625" y="365737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30" name="Shape 28"/>
          <p:cNvSpPr/>
          <p:nvPr/>
        </p:nvSpPr>
        <p:spPr>
          <a:xfrm>
            <a:off x="3028950" y="365737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31" name="Shape 29"/>
          <p:cNvSpPr/>
          <p:nvPr/>
        </p:nvSpPr>
        <p:spPr>
          <a:xfrm>
            <a:off x="3343275" y="365737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0" y="365737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33" name="Shape 31"/>
          <p:cNvSpPr/>
          <p:nvPr/>
        </p:nvSpPr>
        <p:spPr>
          <a:xfrm>
            <a:off x="3971925" y="365737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34" name="Shape 32"/>
          <p:cNvSpPr/>
          <p:nvPr/>
        </p:nvSpPr>
        <p:spPr>
          <a:xfrm>
            <a:off x="4286250" y="365737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35" name="Shape 33"/>
          <p:cNvSpPr/>
          <p:nvPr/>
        </p:nvSpPr>
        <p:spPr>
          <a:xfrm>
            <a:off x="4600575" y="365737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36" name="Shape 34"/>
          <p:cNvSpPr/>
          <p:nvPr/>
        </p:nvSpPr>
        <p:spPr>
          <a:xfrm>
            <a:off x="4914900" y="365737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37" name="Shape 35"/>
          <p:cNvSpPr/>
          <p:nvPr/>
        </p:nvSpPr>
        <p:spPr>
          <a:xfrm>
            <a:off x="5229225" y="365737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38" name="Shape 36"/>
          <p:cNvSpPr/>
          <p:nvPr/>
        </p:nvSpPr>
        <p:spPr>
          <a:xfrm>
            <a:off x="5543550" y="365737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39" name="Shape 37"/>
          <p:cNvSpPr/>
          <p:nvPr/>
        </p:nvSpPr>
        <p:spPr>
          <a:xfrm>
            <a:off x="5857875" y="365737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40" name="Shape 38"/>
          <p:cNvSpPr/>
          <p:nvPr/>
        </p:nvSpPr>
        <p:spPr>
          <a:xfrm>
            <a:off x="6172200" y="365737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41" name="Shape 39"/>
          <p:cNvSpPr/>
          <p:nvPr/>
        </p:nvSpPr>
        <p:spPr>
          <a:xfrm>
            <a:off x="6486525" y="365737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42" name="Shape 40"/>
          <p:cNvSpPr/>
          <p:nvPr/>
        </p:nvSpPr>
        <p:spPr>
          <a:xfrm>
            <a:off x="6800850" y="365737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43" name="Shape 41"/>
          <p:cNvSpPr/>
          <p:nvPr/>
        </p:nvSpPr>
        <p:spPr>
          <a:xfrm>
            <a:off x="7115175" y="365737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44" name="Shape 42"/>
          <p:cNvSpPr/>
          <p:nvPr/>
        </p:nvSpPr>
        <p:spPr>
          <a:xfrm>
            <a:off x="1143000" y="397170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45" name="Shape 43"/>
          <p:cNvSpPr/>
          <p:nvPr/>
        </p:nvSpPr>
        <p:spPr>
          <a:xfrm>
            <a:off x="1457325" y="397170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46" name="Shape 44"/>
          <p:cNvSpPr/>
          <p:nvPr/>
        </p:nvSpPr>
        <p:spPr>
          <a:xfrm>
            <a:off x="1771650" y="397170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47" name="Shape 45"/>
          <p:cNvSpPr/>
          <p:nvPr/>
        </p:nvSpPr>
        <p:spPr>
          <a:xfrm>
            <a:off x="2085975" y="397170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48" name="Shape 46"/>
          <p:cNvSpPr/>
          <p:nvPr/>
        </p:nvSpPr>
        <p:spPr>
          <a:xfrm>
            <a:off x="2400300" y="397170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49" name="Shape 47"/>
          <p:cNvSpPr/>
          <p:nvPr/>
        </p:nvSpPr>
        <p:spPr>
          <a:xfrm>
            <a:off x="2714625" y="397170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50" name="Shape 48"/>
          <p:cNvSpPr/>
          <p:nvPr/>
        </p:nvSpPr>
        <p:spPr>
          <a:xfrm>
            <a:off x="3028950" y="397170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51" name="Shape 49"/>
          <p:cNvSpPr/>
          <p:nvPr/>
        </p:nvSpPr>
        <p:spPr>
          <a:xfrm>
            <a:off x="3343275" y="397170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52" name="Shape 50"/>
          <p:cNvSpPr/>
          <p:nvPr/>
        </p:nvSpPr>
        <p:spPr>
          <a:xfrm>
            <a:off x="3657600" y="397170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53" name="Shape 51"/>
          <p:cNvSpPr/>
          <p:nvPr/>
        </p:nvSpPr>
        <p:spPr>
          <a:xfrm>
            <a:off x="3971925" y="397170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54" name="Shape 52"/>
          <p:cNvSpPr/>
          <p:nvPr/>
        </p:nvSpPr>
        <p:spPr>
          <a:xfrm>
            <a:off x="4286250" y="397170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55" name="Shape 53"/>
          <p:cNvSpPr/>
          <p:nvPr/>
        </p:nvSpPr>
        <p:spPr>
          <a:xfrm>
            <a:off x="4600575" y="397170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56" name="Shape 54"/>
          <p:cNvSpPr/>
          <p:nvPr/>
        </p:nvSpPr>
        <p:spPr>
          <a:xfrm>
            <a:off x="4914900" y="397170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57" name="Shape 55"/>
          <p:cNvSpPr/>
          <p:nvPr/>
        </p:nvSpPr>
        <p:spPr>
          <a:xfrm>
            <a:off x="5229225" y="397170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58" name="Shape 56"/>
          <p:cNvSpPr/>
          <p:nvPr/>
        </p:nvSpPr>
        <p:spPr>
          <a:xfrm>
            <a:off x="5543550" y="397170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59" name="Shape 57"/>
          <p:cNvSpPr/>
          <p:nvPr/>
        </p:nvSpPr>
        <p:spPr>
          <a:xfrm>
            <a:off x="5857875" y="397170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60" name="Shape 58"/>
          <p:cNvSpPr/>
          <p:nvPr/>
        </p:nvSpPr>
        <p:spPr>
          <a:xfrm>
            <a:off x="6172200" y="397170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61" name="Shape 59"/>
          <p:cNvSpPr/>
          <p:nvPr/>
        </p:nvSpPr>
        <p:spPr>
          <a:xfrm>
            <a:off x="6486525" y="397170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62" name="Shape 60"/>
          <p:cNvSpPr/>
          <p:nvPr/>
        </p:nvSpPr>
        <p:spPr>
          <a:xfrm>
            <a:off x="6800850" y="397170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63" name="Shape 61"/>
          <p:cNvSpPr/>
          <p:nvPr/>
        </p:nvSpPr>
        <p:spPr>
          <a:xfrm>
            <a:off x="7115175" y="3971702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64" name="Shape 62"/>
          <p:cNvSpPr/>
          <p:nvPr/>
        </p:nvSpPr>
        <p:spPr>
          <a:xfrm>
            <a:off x="1143000" y="428602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65" name="Shape 63"/>
          <p:cNvSpPr/>
          <p:nvPr/>
        </p:nvSpPr>
        <p:spPr>
          <a:xfrm>
            <a:off x="1457325" y="428602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008BD0"/>
          </a:solidFill>
          <a:ln/>
        </p:spPr>
      </p:sp>
      <p:sp>
        <p:nvSpPr>
          <p:cNvPr id="66" name="Shape 64"/>
          <p:cNvSpPr/>
          <p:nvPr/>
        </p:nvSpPr>
        <p:spPr>
          <a:xfrm>
            <a:off x="1771650" y="428602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FBF3E2"/>
          </a:solidFill>
          <a:ln w="23813">
            <a:solidFill>
              <a:srgbClr val="C9A22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085975" y="428602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FBF3E2"/>
          </a:solidFill>
          <a:ln w="23813">
            <a:solidFill>
              <a:srgbClr val="C9A22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400300" y="428602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FBF3E2"/>
          </a:solidFill>
          <a:ln w="23813">
            <a:solidFill>
              <a:srgbClr val="C9A22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714625" y="428602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FBF3E2"/>
          </a:solidFill>
          <a:ln w="23813">
            <a:solidFill>
              <a:srgbClr val="C9A22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028950" y="4286027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FBF3E2"/>
          </a:solidFill>
          <a:ln w="23813">
            <a:solidFill>
              <a:srgbClr val="C9A22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43000" y="4868912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008BD0"/>
          </a:solidFill>
          <a:ln/>
        </p:spPr>
      </p:sp>
      <p:sp>
        <p:nvSpPr>
          <p:cNvPr id="72" name="Text 70"/>
          <p:cNvSpPr/>
          <p:nvPr/>
        </p:nvSpPr>
        <p:spPr>
          <a:xfrm>
            <a:off x="1428750" y="4819427"/>
            <a:ext cx="2620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setups — budgetable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4278064" y="4868912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FBF3E2"/>
          </a:solidFill>
          <a:ln w="23813">
            <a:solidFill>
              <a:srgbClr val="C9A22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63814" y="4819427"/>
            <a:ext cx="26332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— meter these instead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8048625" y="2430735"/>
            <a:ext cx="9369266" cy="1367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75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one everyday task </a:t>
            </a:r>
            <a:r>
              <a:rPr lang="en-US" sz="24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times </a:t>
            </a:r>
            <a:r>
              <a:rPr lang="en-US" sz="2475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bill barely moves. </a:t>
            </a:r>
            <a:r>
              <a:rPr lang="en-US" sz="24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of 67 </a:t>
            </a:r>
            <a:r>
              <a:rPr lang="en-US" sz="2475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setups — a task, at a size, on a model — landed in a tight, budgetable band.</a:t>
            </a:r>
            <a:endParaRPr lang="en-US" sz="2475" dirty="0"/>
          </a:p>
        </p:txBody>
      </p:sp>
      <p:sp>
        <p:nvSpPr>
          <p:cNvPr id="76" name="Text 74"/>
          <p:cNvSpPr/>
          <p:nvPr/>
        </p:nvSpPr>
        <p:spPr>
          <a:xfrm>
            <a:off x="8283047" y="4179391"/>
            <a:ext cx="2995665" cy="148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750" kern="0" spc="-195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9750" dirty="0"/>
          </a:p>
        </p:txBody>
      </p:sp>
      <p:sp>
        <p:nvSpPr>
          <p:cNvPr id="77" name="Text 75"/>
          <p:cNvSpPr/>
          <p:nvPr/>
        </p:nvSpPr>
        <p:spPr>
          <a:xfrm>
            <a:off x="11732166" y="4224572"/>
            <a:ext cx="2995664" cy="15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dirty="0">
                <a:solidFill>
                  <a:srgbClr val="6F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run-to-run wobble — the middle of the pack, across 20 runs</a:t>
            </a:r>
            <a:endParaRPr lang="en-US" sz="2025" dirty="0"/>
          </a:p>
        </p:txBody>
      </p:sp>
      <p:sp>
        <p:nvSpPr>
          <p:cNvPr id="78" name="Shape 76"/>
          <p:cNvSpPr/>
          <p:nvPr/>
        </p:nvSpPr>
        <p:spPr>
          <a:xfrm rot="-24000">
            <a:off x="1142998" y="8419207"/>
            <a:ext cx="7239003" cy="1066800"/>
          </a:xfrm>
          <a:prstGeom prst="roundRect">
            <a:avLst>
              <a:gd name="adj" fmla="val 14286"/>
            </a:avLst>
          </a:prstGeom>
          <a:solidFill>
            <a:srgbClr val="FBF3E2"/>
          </a:solidFill>
          <a:ln w="28575">
            <a:solidFill>
              <a:srgbClr val="C9A227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1417897" y="8764946"/>
            <a:ext cx="1298560" cy="412881"/>
          </a:xfrm>
          <a:prstGeom prst="roundRect">
            <a:avLst>
              <a:gd name="adj" fmla="val 18456"/>
            </a:avLst>
          </a:prstGeom>
          <a:solidFill>
            <a:srgbClr val="F3E1B0"/>
          </a:solidFill>
          <a:ln/>
        </p:spPr>
        <p:txBody>
          <a:bodyPr/>
          <a:lstStyle/>
          <a:p>
            <a:r>
              <a:rPr lang="en-US" sz="1600" b="1" dirty="0">
                <a:solidFill>
                  <a:srgbClr val="8A6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513147" y="8783996"/>
            <a:ext cx="1184260" cy="41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2884159" y="8595007"/>
            <a:ext cx="5380584" cy="743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dirty="0">
                <a:solidFill>
                  <a:srgbClr val="4A3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monthly utility bill — steady enough to plan around.</a:t>
            </a:r>
            <a:endParaRPr lang="en-US" sz="2025" dirty="0"/>
          </a:p>
        </p:txBody>
      </p:sp>
      <p:sp>
        <p:nvSpPr>
          <p:cNvPr id="82" name="Text 80"/>
          <p:cNvSpPr/>
          <p:nvPr/>
        </p:nvSpPr>
        <p:spPr>
          <a:xfrm>
            <a:off x="11650980" y="8012534"/>
            <a:ext cx="549402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800" dirty="0">
                <a:solidFill>
                  <a:srgbClr val="9A9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single-shot office tasks — not long agent runs. Those are the next experiment.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14988704" y="8740155"/>
            <a:ext cx="2156296" cy="746745"/>
          </a:xfrm>
          <a:prstGeom prst="roundRect">
            <a:avLst>
              <a:gd name="adj" fmla="val 15306"/>
            </a:avLst>
          </a:prstGeom>
          <a:solidFill>
            <a:srgbClr val="008BD0"/>
          </a:solidFill>
          <a:ln/>
        </p:spPr>
        <p:txBody>
          <a:bodyPr anchor="ctr"/>
          <a:lstStyle/>
          <a:p>
            <a:pPr algn="ctr"/>
            <a:r>
              <a:rPr lang="en-US" sz="2400" kern="0" spc="-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this</a:t>
            </a:r>
            <a:endParaRPr lang="en-US" sz="2400" dirty="0"/>
          </a:p>
        </p:txBody>
      </p:sp>
      <p:sp>
        <p:nvSpPr>
          <p:cNvPr id="84" name="Text 82"/>
          <p:cNvSpPr/>
          <p:nvPr/>
        </p:nvSpPr>
        <p:spPr>
          <a:xfrm>
            <a:off x="15274454" y="8854455"/>
            <a:ext cx="1660996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176022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36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LIMIT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18245"/>
            <a:ext cx="1760220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250" kern="0" spc="-1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tasks you can only meter.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1143000" y="2392635"/>
            <a:ext cx="7868221" cy="1860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75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bill wobbles more the </a:t>
            </a:r>
            <a:r>
              <a:rPr lang="en-US" sz="24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freedom </a:t>
            </a:r>
            <a:r>
              <a:rPr lang="en-US" sz="2475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has over how much it writes. Pinned tasks (i.e. translating, sorting) barely move. </a:t>
            </a:r>
            <a:r>
              <a:rPr lang="en-US" sz="24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thinking </a:t>
            </a:r>
            <a:r>
              <a:rPr lang="en-US" sz="2475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(i.e. strategy, deep analysis) is the wild card.</a:t>
            </a:r>
            <a:endParaRPr lang="en-US" sz="2475" dirty="0"/>
          </a:p>
        </p:txBody>
      </p:sp>
      <p:sp>
        <p:nvSpPr>
          <p:cNvPr id="5" name="Text 3"/>
          <p:cNvSpPr/>
          <p:nvPr/>
        </p:nvSpPr>
        <p:spPr>
          <a:xfrm>
            <a:off x="1143000" y="4501232"/>
            <a:ext cx="840295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 isn't the model's fault.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143000" y="5049813"/>
            <a:ext cx="1276871" cy="1219126"/>
          </a:xfrm>
          <a:prstGeom prst="roundRect">
            <a:avLst>
              <a:gd name="adj" fmla="val 9376"/>
            </a:avLst>
          </a:prstGeom>
          <a:solidFill>
            <a:srgbClr val="FFFFFF"/>
          </a:solidFill>
          <a:ln w="19050">
            <a:solidFill>
              <a:srgbClr val="D8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2550" y="5202213"/>
            <a:ext cx="857771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70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52550" y="5750793"/>
            <a:ext cx="857771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800" dirty="0">
                <a:solidFill>
                  <a:srgbClr val="6F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72271" y="5049813"/>
            <a:ext cx="1276871" cy="1219126"/>
          </a:xfrm>
          <a:prstGeom prst="roundRect">
            <a:avLst>
              <a:gd name="adj" fmla="val 9376"/>
            </a:avLst>
          </a:prstGeom>
          <a:solidFill>
            <a:srgbClr val="FFFFFF"/>
          </a:solidFill>
          <a:ln w="19050">
            <a:solidFill>
              <a:srgbClr val="D8D5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1821" y="5202213"/>
            <a:ext cx="857771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70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781821" y="5750793"/>
            <a:ext cx="857771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800" dirty="0">
                <a:solidFill>
                  <a:srgbClr val="6F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001542" y="5049813"/>
            <a:ext cx="1276871" cy="1219126"/>
          </a:xfrm>
          <a:prstGeom prst="roundRect">
            <a:avLst>
              <a:gd name="adj" fmla="val 9376"/>
            </a:avLst>
          </a:prstGeom>
          <a:solidFill>
            <a:srgbClr val="FFFFFF"/>
          </a:solidFill>
          <a:ln w="19050">
            <a:solidFill>
              <a:srgbClr val="D8D5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11092" y="5202213"/>
            <a:ext cx="857771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70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211092" y="5750793"/>
            <a:ext cx="857771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800" dirty="0">
                <a:solidFill>
                  <a:srgbClr val="6F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6421338"/>
            <a:ext cx="7868221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9A9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wobble, run to run is flat across tiers. No slot-machine model to blame.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05950" y="3820567"/>
            <a:ext cx="840295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6F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Run-to-run wobble, by how much the AI writes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429750" y="4445347"/>
            <a:ext cx="24574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Translate, sort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2077700" y="4473922"/>
            <a:ext cx="3733800" cy="323850"/>
          </a:xfrm>
          <a:prstGeom prst="roundRect">
            <a:avLst>
              <a:gd name="adj" fmla="val 23529"/>
            </a:avLst>
          </a:prstGeom>
          <a:solidFill>
            <a:srgbClr val="E0F2FA"/>
          </a:solidFill>
          <a:ln/>
        </p:spPr>
      </p:sp>
      <p:sp>
        <p:nvSpPr>
          <p:cNvPr id="19" name="Shape 17"/>
          <p:cNvSpPr/>
          <p:nvPr/>
        </p:nvSpPr>
        <p:spPr>
          <a:xfrm>
            <a:off x="14743584" y="4473922"/>
            <a:ext cx="1067916" cy="323850"/>
          </a:xfrm>
          <a:prstGeom prst="rect">
            <a:avLst/>
          </a:prstGeom>
          <a:solidFill>
            <a:srgbClr val="FBF3E2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77700" y="4473922"/>
            <a:ext cx="89595" cy="323850"/>
          </a:xfrm>
          <a:prstGeom prst="roundRect">
            <a:avLst>
              <a:gd name="adj" fmla="val 50000"/>
            </a:avLst>
          </a:prstGeom>
          <a:solidFill>
            <a:srgbClr val="008BD0"/>
          </a:solidFill>
          <a:ln/>
        </p:spPr>
      </p:sp>
      <p:sp>
        <p:nvSpPr>
          <p:cNvPr id="21" name="Text 19"/>
          <p:cNvSpPr/>
          <p:nvPr/>
        </p:nvSpPr>
        <p:spPr>
          <a:xfrm>
            <a:off x="16002000" y="4452938"/>
            <a:ext cx="12192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~0.5%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29750" y="5054947"/>
            <a:ext cx="24574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tasks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2077700" y="5083522"/>
            <a:ext cx="3733800" cy="323850"/>
          </a:xfrm>
          <a:prstGeom prst="roundRect">
            <a:avLst>
              <a:gd name="adj" fmla="val 23529"/>
            </a:avLst>
          </a:prstGeom>
          <a:solidFill>
            <a:srgbClr val="E0F2FA"/>
          </a:solidFill>
          <a:ln/>
        </p:spPr>
      </p:sp>
      <p:sp>
        <p:nvSpPr>
          <p:cNvPr id="24" name="Shape 22"/>
          <p:cNvSpPr/>
          <p:nvPr/>
        </p:nvSpPr>
        <p:spPr>
          <a:xfrm>
            <a:off x="14743584" y="5083522"/>
            <a:ext cx="1067916" cy="323850"/>
          </a:xfrm>
          <a:prstGeom prst="rect">
            <a:avLst/>
          </a:prstGeom>
          <a:solidFill>
            <a:srgbClr val="FBF3E2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77700" y="5083522"/>
            <a:ext cx="798984" cy="323850"/>
          </a:xfrm>
          <a:prstGeom prst="roundRect">
            <a:avLst>
              <a:gd name="adj" fmla="val 23529"/>
            </a:avLst>
          </a:prstGeom>
          <a:solidFill>
            <a:srgbClr val="008BD0"/>
          </a:solidFill>
          <a:ln/>
        </p:spPr>
      </p:sp>
      <p:sp>
        <p:nvSpPr>
          <p:cNvPr id="26" name="Text 24"/>
          <p:cNvSpPr/>
          <p:nvPr/>
        </p:nvSpPr>
        <p:spPr>
          <a:xfrm>
            <a:off x="16002000" y="5062538"/>
            <a:ext cx="12192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29750" y="5839792"/>
            <a:ext cx="24574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thinking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2077700" y="5868367"/>
            <a:ext cx="3733800" cy="323850"/>
          </a:xfrm>
          <a:prstGeom prst="roundRect">
            <a:avLst>
              <a:gd name="adj" fmla="val 23529"/>
            </a:avLst>
          </a:prstGeom>
          <a:solidFill>
            <a:srgbClr val="E0F2FA"/>
          </a:solidFill>
          <a:ln/>
        </p:spPr>
      </p:sp>
      <p:sp>
        <p:nvSpPr>
          <p:cNvPr id="29" name="Shape 27"/>
          <p:cNvSpPr/>
          <p:nvPr/>
        </p:nvSpPr>
        <p:spPr>
          <a:xfrm>
            <a:off x="14743584" y="5868367"/>
            <a:ext cx="1067916" cy="323850"/>
          </a:xfrm>
          <a:prstGeom prst="rect">
            <a:avLst/>
          </a:prstGeom>
          <a:solidFill>
            <a:srgbClr val="FBF3E2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77700" y="5868367"/>
            <a:ext cx="3573214" cy="323850"/>
          </a:xfrm>
          <a:prstGeom prst="roundRect">
            <a:avLst>
              <a:gd name="adj" fmla="val 23529"/>
            </a:avLst>
          </a:prstGeom>
          <a:solidFill>
            <a:srgbClr val="E3A79E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77700" y="5868367"/>
            <a:ext cx="2594967" cy="323850"/>
          </a:xfrm>
          <a:prstGeom prst="roundRect">
            <a:avLst>
              <a:gd name="adj" fmla="val 23529"/>
            </a:avLst>
          </a:prstGeom>
          <a:solidFill>
            <a:srgbClr val="C0473A"/>
          </a:solidFill>
          <a:ln/>
        </p:spPr>
      </p:sp>
      <p:sp>
        <p:nvSpPr>
          <p:cNvPr id="32" name="Text 30"/>
          <p:cNvSpPr/>
          <p:nvPr/>
        </p:nvSpPr>
        <p:spPr>
          <a:xfrm>
            <a:off x="16002000" y="5664547"/>
            <a:ext cx="121920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A9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– 20%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505950" y="6721748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08BD0"/>
          </a:solidFill>
          <a:ln/>
        </p:spPr>
      </p:sp>
      <p:sp>
        <p:nvSpPr>
          <p:cNvPr id="34" name="Text 32"/>
          <p:cNvSpPr/>
          <p:nvPr/>
        </p:nvSpPr>
        <p:spPr>
          <a:xfrm>
            <a:off x="9772650" y="6662738"/>
            <a:ext cx="24584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15% — budget it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2421642" y="6721748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C0473A"/>
          </a:solidFill>
          <a:ln/>
        </p:spPr>
      </p:sp>
      <p:sp>
        <p:nvSpPr>
          <p:cNvPr id="36" name="Text 34"/>
          <p:cNvSpPr/>
          <p:nvPr/>
        </p:nvSpPr>
        <p:spPr>
          <a:xfrm>
            <a:off x="12688342" y="6662738"/>
            <a:ext cx="233169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~20% — meter it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 rot="-24000">
            <a:off x="1142998" y="8419207"/>
            <a:ext cx="7810503" cy="1066800"/>
          </a:xfrm>
          <a:prstGeom prst="roundRect">
            <a:avLst>
              <a:gd name="adj" fmla="val 14286"/>
            </a:avLst>
          </a:prstGeom>
          <a:solidFill>
            <a:srgbClr val="FBF3E2"/>
          </a:solidFill>
          <a:ln w="28575">
            <a:solidFill>
              <a:srgbClr val="C9A227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417904" y="8766941"/>
            <a:ext cx="1298560" cy="412882"/>
          </a:xfrm>
          <a:prstGeom prst="roundRect">
            <a:avLst>
              <a:gd name="adj" fmla="val 18456"/>
            </a:avLst>
          </a:prstGeom>
          <a:solidFill>
            <a:srgbClr val="F3E1B0"/>
          </a:solidFill>
          <a:ln/>
        </p:spPr>
      </p:sp>
      <p:sp>
        <p:nvSpPr>
          <p:cNvPr id="39" name="Text 37"/>
          <p:cNvSpPr/>
          <p:nvPr/>
        </p:nvSpPr>
        <p:spPr>
          <a:xfrm>
            <a:off x="1513154" y="8785991"/>
            <a:ext cx="1184260" cy="412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8A6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2884166" y="8593012"/>
            <a:ext cx="5969215" cy="747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dirty="0">
                <a:solidFill>
                  <a:srgbClr val="4A3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fuel economy — steady on the highway, all over the place in stop-and-go traffic.</a:t>
            </a:r>
            <a:endParaRPr lang="en-US" sz="2025" dirty="0"/>
          </a:p>
        </p:txBody>
      </p:sp>
      <p:sp>
        <p:nvSpPr>
          <p:cNvPr id="41" name="Shape 39"/>
          <p:cNvSpPr/>
          <p:nvPr/>
        </p:nvSpPr>
        <p:spPr>
          <a:xfrm>
            <a:off x="15184115" y="8740155"/>
            <a:ext cx="1960885" cy="746745"/>
          </a:xfrm>
          <a:prstGeom prst="roundRect">
            <a:avLst>
              <a:gd name="adj" fmla="val 15306"/>
            </a:avLst>
          </a:prstGeom>
          <a:solidFill>
            <a:srgbClr val="C0473A"/>
          </a:solidFill>
          <a:ln/>
        </p:spPr>
        <p:txBody>
          <a:bodyPr anchor="ctr"/>
          <a:lstStyle/>
          <a:p>
            <a:pPr algn="ctr"/>
            <a:r>
              <a:rPr lang="en-US" sz="2400" kern="0" spc="-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 this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236345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36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61095"/>
            <a:ext cx="11576685" cy="1305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kern="0" spc="-9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come with a price tag you can read in advance.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3952934" y="762000"/>
            <a:ext cx="3192066" cy="1432545"/>
          </a:xfrm>
          <a:prstGeom prst="roundRect">
            <a:avLst>
              <a:gd name="adj" fmla="val 11968"/>
            </a:avLst>
          </a:prstGeom>
          <a:solidFill>
            <a:srgbClr val="008BD0"/>
          </a:solidFill>
          <a:ln/>
        </p:spPr>
      </p:sp>
      <p:sp>
        <p:nvSpPr>
          <p:cNvPr id="5" name="Text 3"/>
          <p:cNvSpPr/>
          <p:nvPr/>
        </p:nvSpPr>
        <p:spPr>
          <a:xfrm>
            <a:off x="14149566" y="952500"/>
            <a:ext cx="279880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950" kern="0" spc="-9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24</a:t>
            </a:r>
            <a:endParaRPr lang="en-US" sz="4950" dirty="0"/>
          </a:p>
        </p:txBody>
      </p:sp>
      <p:sp>
        <p:nvSpPr>
          <p:cNvPr id="6" name="Text 4"/>
          <p:cNvSpPr/>
          <p:nvPr/>
        </p:nvSpPr>
        <p:spPr>
          <a:xfrm>
            <a:off x="14149566" y="1638300"/>
            <a:ext cx="2798802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800" kern="0" spc="5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predictions, all correct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738512"/>
            <a:ext cx="14716125" cy="816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called the direction of the effect — cheaper or dearer — </a:t>
            </a:r>
            <a:r>
              <a:rPr lang="en-US" sz="21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running a single task </a:t>
            </a:r>
            <a:r>
              <a:rPr lang="en-US" sz="2175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for every task on every model.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1143000" y="3840435"/>
            <a:ext cx="79663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that </a:t>
            </a:r>
            <a:r>
              <a:rPr lang="en-US" sz="2250" b="1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</a:t>
            </a:r>
            <a:r>
              <a:rPr lang="en-US" sz="2250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→ every task got cheaper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33450" y="4670971"/>
            <a:ext cx="230505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copy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09950" y="4711005"/>
            <a:ext cx="3486150" cy="285750"/>
          </a:xfrm>
          <a:prstGeom prst="roundRect">
            <a:avLst>
              <a:gd name="adj" fmla="val 26667"/>
            </a:avLst>
          </a:prstGeom>
          <a:solidFill>
            <a:srgbClr val="EAE8E1"/>
          </a:solidFill>
          <a:ln/>
        </p:spPr>
      </p:sp>
      <p:sp>
        <p:nvSpPr>
          <p:cNvPr id="11" name="Shape 9"/>
          <p:cNvSpPr/>
          <p:nvPr/>
        </p:nvSpPr>
        <p:spPr>
          <a:xfrm>
            <a:off x="3409950" y="4711005"/>
            <a:ext cx="3123530" cy="285750"/>
          </a:xfrm>
          <a:prstGeom prst="roundRect">
            <a:avLst>
              <a:gd name="adj" fmla="val 26667"/>
            </a:avLst>
          </a:prstGeom>
          <a:solidFill>
            <a:srgbClr val="9AD3EE"/>
          </a:solidFill>
          <a:ln/>
        </p:spPr>
      </p:sp>
      <p:sp>
        <p:nvSpPr>
          <p:cNvPr id="12" name="Shape 10"/>
          <p:cNvSpPr/>
          <p:nvPr/>
        </p:nvSpPr>
        <p:spPr>
          <a:xfrm>
            <a:off x="3409950" y="4711005"/>
            <a:ext cx="2502991" cy="285750"/>
          </a:xfrm>
          <a:prstGeom prst="roundRect">
            <a:avLst>
              <a:gd name="adj" fmla="val 26667"/>
            </a:avLst>
          </a:prstGeom>
          <a:solidFill>
            <a:srgbClr val="008BD0"/>
          </a:solidFill>
          <a:ln/>
        </p:spPr>
      </p:sp>
      <p:sp>
        <p:nvSpPr>
          <p:cNvPr id="13" name="Text 11"/>
          <p:cNvSpPr/>
          <p:nvPr/>
        </p:nvSpPr>
        <p:spPr>
          <a:xfrm>
            <a:off x="7067550" y="4488135"/>
            <a:ext cx="188595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−57.4% to −71.6%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3450" y="5592961"/>
            <a:ext cx="230505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extraction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409950" y="5632996"/>
            <a:ext cx="3486150" cy="285750"/>
          </a:xfrm>
          <a:prstGeom prst="roundRect">
            <a:avLst>
              <a:gd name="adj" fmla="val 26667"/>
            </a:avLst>
          </a:prstGeom>
          <a:solidFill>
            <a:srgbClr val="EAE8E1"/>
          </a:solidFill>
          <a:ln/>
        </p:spPr>
      </p:sp>
      <p:sp>
        <p:nvSpPr>
          <p:cNvPr id="16" name="Shape 14"/>
          <p:cNvSpPr/>
          <p:nvPr/>
        </p:nvSpPr>
        <p:spPr>
          <a:xfrm>
            <a:off x="3409950" y="5632996"/>
            <a:ext cx="2339206" cy="285750"/>
          </a:xfrm>
          <a:prstGeom prst="roundRect">
            <a:avLst>
              <a:gd name="adj" fmla="val 26667"/>
            </a:avLst>
          </a:prstGeom>
          <a:solidFill>
            <a:srgbClr val="9AD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3409950" y="5632996"/>
            <a:ext cx="2117824" cy="285750"/>
          </a:xfrm>
          <a:prstGeom prst="roundRect">
            <a:avLst>
              <a:gd name="adj" fmla="val 26667"/>
            </a:avLst>
          </a:prstGeom>
          <a:solidFill>
            <a:srgbClr val="008BD0"/>
          </a:solidFill>
          <a:ln/>
        </p:spPr>
      </p:sp>
      <p:sp>
        <p:nvSpPr>
          <p:cNvPr id="18" name="Text 16"/>
          <p:cNvSpPr/>
          <p:nvPr/>
        </p:nvSpPr>
        <p:spPr>
          <a:xfrm>
            <a:off x="7067550" y="5410126"/>
            <a:ext cx="188595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−48.6% to −53.7%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3450" y="6514951"/>
            <a:ext cx="230505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reply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409950" y="6554986"/>
            <a:ext cx="3486150" cy="285750"/>
          </a:xfrm>
          <a:prstGeom prst="roundRect">
            <a:avLst>
              <a:gd name="adj" fmla="val 26667"/>
            </a:avLst>
          </a:prstGeom>
          <a:solidFill>
            <a:srgbClr val="EAE8E1"/>
          </a:solidFill>
          <a:ln/>
        </p:spPr>
      </p:sp>
      <p:sp>
        <p:nvSpPr>
          <p:cNvPr id="21" name="Shape 19"/>
          <p:cNvSpPr/>
          <p:nvPr/>
        </p:nvSpPr>
        <p:spPr>
          <a:xfrm>
            <a:off x="3409950" y="6554986"/>
            <a:ext cx="2269480" cy="285750"/>
          </a:xfrm>
          <a:prstGeom prst="roundRect">
            <a:avLst>
              <a:gd name="adj" fmla="val 26667"/>
            </a:avLst>
          </a:prstGeom>
          <a:solidFill>
            <a:srgbClr val="9AD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3409950" y="6554986"/>
            <a:ext cx="1723876" cy="285750"/>
          </a:xfrm>
          <a:prstGeom prst="roundRect">
            <a:avLst>
              <a:gd name="adj" fmla="val 26667"/>
            </a:avLst>
          </a:prstGeom>
          <a:solidFill>
            <a:srgbClr val="008BD0"/>
          </a:solidFill>
          <a:ln/>
        </p:spPr>
      </p:sp>
      <p:sp>
        <p:nvSpPr>
          <p:cNvPr id="23" name="Text 21"/>
          <p:cNvSpPr/>
          <p:nvPr/>
        </p:nvSpPr>
        <p:spPr>
          <a:xfrm>
            <a:off x="7067550" y="6332116"/>
            <a:ext cx="188595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−39.6% to −52.1%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3450" y="7436941"/>
            <a:ext cx="230505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recap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409950" y="7476976"/>
            <a:ext cx="3486150" cy="285750"/>
          </a:xfrm>
          <a:prstGeom prst="roundRect">
            <a:avLst>
              <a:gd name="adj" fmla="val 26667"/>
            </a:avLst>
          </a:prstGeom>
          <a:solidFill>
            <a:srgbClr val="EAE8E1"/>
          </a:solidFill>
          <a:ln/>
        </p:spPr>
      </p:sp>
      <p:sp>
        <p:nvSpPr>
          <p:cNvPr id="26" name="Shape 24"/>
          <p:cNvSpPr/>
          <p:nvPr/>
        </p:nvSpPr>
        <p:spPr>
          <a:xfrm>
            <a:off x="3409950" y="7476976"/>
            <a:ext cx="2175346" cy="285750"/>
          </a:xfrm>
          <a:prstGeom prst="roundRect">
            <a:avLst>
              <a:gd name="adj" fmla="val 26667"/>
            </a:avLst>
          </a:prstGeom>
          <a:solidFill>
            <a:srgbClr val="9AD3EE"/>
          </a:solidFill>
          <a:ln/>
        </p:spPr>
      </p:sp>
      <p:sp>
        <p:nvSpPr>
          <p:cNvPr id="27" name="Shape 25"/>
          <p:cNvSpPr/>
          <p:nvPr/>
        </p:nvSpPr>
        <p:spPr>
          <a:xfrm>
            <a:off x="3409950" y="7476976"/>
            <a:ext cx="1734294" cy="285750"/>
          </a:xfrm>
          <a:prstGeom prst="roundRect">
            <a:avLst>
              <a:gd name="adj" fmla="val 26667"/>
            </a:avLst>
          </a:prstGeom>
          <a:solidFill>
            <a:srgbClr val="008BD0"/>
          </a:solidFill>
          <a:ln/>
        </p:spPr>
      </p:sp>
      <p:sp>
        <p:nvSpPr>
          <p:cNvPr id="28" name="Text 26"/>
          <p:cNvSpPr/>
          <p:nvPr/>
        </p:nvSpPr>
        <p:spPr>
          <a:xfrm>
            <a:off x="7067550" y="7254106"/>
            <a:ext cx="188595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−39.8% to −49.9%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410700" y="3840435"/>
            <a:ext cx="79663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dirty="0">
                <a:solidFill>
                  <a:srgbClr val="A9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that </a:t>
            </a:r>
            <a:r>
              <a:rPr lang="en-US" sz="2250" b="1" dirty="0">
                <a:solidFill>
                  <a:srgbClr val="A9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more </a:t>
            </a:r>
            <a:r>
              <a:rPr lang="en-US" sz="2250" dirty="0">
                <a:solidFill>
                  <a:srgbClr val="A9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every task got dearer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9220200" y="4670971"/>
            <a:ext cx="20955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draft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487150" y="4711005"/>
            <a:ext cx="3581400" cy="285750"/>
          </a:xfrm>
          <a:prstGeom prst="roundRect">
            <a:avLst>
              <a:gd name="adj" fmla="val 26667"/>
            </a:avLst>
          </a:prstGeom>
          <a:solidFill>
            <a:srgbClr val="EAE8E1"/>
          </a:solidFill>
          <a:ln/>
        </p:spPr>
      </p:sp>
      <p:sp>
        <p:nvSpPr>
          <p:cNvPr id="32" name="Shape 30"/>
          <p:cNvSpPr/>
          <p:nvPr/>
        </p:nvSpPr>
        <p:spPr>
          <a:xfrm>
            <a:off x="11487150" y="4711005"/>
            <a:ext cx="3477890" cy="285750"/>
          </a:xfrm>
          <a:prstGeom prst="roundRect">
            <a:avLst>
              <a:gd name="adj" fmla="val 26667"/>
            </a:avLst>
          </a:prstGeom>
          <a:solidFill>
            <a:srgbClr val="E3A79E"/>
          </a:solidFill>
          <a:ln/>
        </p:spPr>
      </p:sp>
      <p:sp>
        <p:nvSpPr>
          <p:cNvPr id="33" name="Shape 31"/>
          <p:cNvSpPr/>
          <p:nvPr/>
        </p:nvSpPr>
        <p:spPr>
          <a:xfrm>
            <a:off x="11487150" y="4711005"/>
            <a:ext cx="374228" cy="285750"/>
          </a:xfrm>
          <a:prstGeom prst="roundRect">
            <a:avLst>
              <a:gd name="adj" fmla="val 26667"/>
            </a:avLst>
          </a:prstGeom>
          <a:solidFill>
            <a:srgbClr val="C0473A"/>
          </a:solidFill>
          <a:ln/>
        </p:spPr>
      </p:sp>
      <p:sp>
        <p:nvSpPr>
          <p:cNvPr id="34" name="Text 32"/>
          <p:cNvSpPr/>
          <p:nvPr/>
        </p:nvSpPr>
        <p:spPr>
          <a:xfrm>
            <a:off x="15240000" y="4488135"/>
            <a:ext cx="198120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A9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+79.4% to +738.0%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220200" y="5592961"/>
            <a:ext cx="20955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brief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487150" y="5632996"/>
            <a:ext cx="3581400" cy="285750"/>
          </a:xfrm>
          <a:prstGeom prst="roundRect">
            <a:avLst>
              <a:gd name="adj" fmla="val 26667"/>
            </a:avLst>
          </a:prstGeom>
          <a:solidFill>
            <a:srgbClr val="EAE8E1"/>
          </a:solidFill>
          <a:ln/>
        </p:spPr>
      </p:sp>
      <p:sp>
        <p:nvSpPr>
          <p:cNvPr id="37" name="Shape 35"/>
          <p:cNvSpPr/>
          <p:nvPr/>
        </p:nvSpPr>
        <p:spPr>
          <a:xfrm>
            <a:off x="11487150" y="5632996"/>
            <a:ext cx="1950765" cy="285750"/>
          </a:xfrm>
          <a:prstGeom prst="roundRect">
            <a:avLst>
              <a:gd name="adj" fmla="val 26667"/>
            </a:avLst>
          </a:prstGeom>
          <a:solidFill>
            <a:srgbClr val="E3A79E"/>
          </a:solidFill>
          <a:ln/>
        </p:spPr>
      </p:sp>
      <p:sp>
        <p:nvSpPr>
          <p:cNvPr id="38" name="Shape 36"/>
          <p:cNvSpPr/>
          <p:nvPr/>
        </p:nvSpPr>
        <p:spPr>
          <a:xfrm>
            <a:off x="11487150" y="5632996"/>
            <a:ext cx="402878" cy="285750"/>
          </a:xfrm>
          <a:prstGeom prst="roundRect">
            <a:avLst>
              <a:gd name="adj" fmla="val 26667"/>
            </a:avLst>
          </a:prstGeom>
          <a:solidFill>
            <a:srgbClr val="C0473A"/>
          </a:solidFill>
          <a:ln/>
        </p:spPr>
      </p:sp>
      <p:sp>
        <p:nvSpPr>
          <p:cNvPr id="39" name="Text 37"/>
          <p:cNvSpPr/>
          <p:nvPr/>
        </p:nvSpPr>
        <p:spPr>
          <a:xfrm>
            <a:off x="15240000" y="5410126"/>
            <a:ext cx="198120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A9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+85.5% to +414.0%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220200" y="6514951"/>
            <a:ext cx="20955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memo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1487150" y="6554986"/>
            <a:ext cx="3581400" cy="285750"/>
          </a:xfrm>
          <a:prstGeom prst="roundRect">
            <a:avLst>
              <a:gd name="adj" fmla="val 26667"/>
            </a:avLst>
          </a:prstGeom>
          <a:solidFill>
            <a:srgbClr val="EAE8E1"/>
          </a:solidFill>
          <a:ln/>
        </p:spPr>
      </p:sp>
      <p:sp>
        <p:nvSpPr>
          <p:cNvPr id="42" name="Shape 40"/>
          <p:cNvSpPr/>
          <p:nvPr/>
        </p:nvSpPr>
        <p:spPr>
          <a:xfrm>
            <a:off x="11487150" y="6554986"/>
            <a:ext cx="647477" cy="285750"/>
          </a:xfrm>
          <a:prstGeom prst="roundRect">
            <a:avLst>
              <a:gd name="adj" fmla="val 26667"/>
            </a:avLst>
          </a:prstGeom>
          <a:solidFill>
            <a:srgbClr val="E3A79E"/>
          </a:solidFill>
          <a:ln/>
        </p:spPr>
      </p:sp>
      <p:sp>
        <p:nvSpPr>
          <p:cNvPr id="43" name="Shape 41"/>
          <p:cNvSpPr/>
          <p:nvPr/>
        </p:nvSpPr>
        <p:spPr>
          <a:xfrm>
            <a:off x="11487150" y="6554986"/>
            <a:ext cx="56927" cy="285750"/>
          </a:xfrm>
          <a:prstGeom prst="roundRect">
            <a:avLst>
              <a:gd name="adj" fmla="val 50000"/>
            </a:avLst>
          </a:prstGeom>
          <a:solidFill>
            <a:srgbClr val="C0473A"/>
          </a:solidFill>
          <a:ln/>
        </p:spPr>
      </p:sp>
      <p:sp>
        <p:nvSpPr>
          <p:cNvPr id="44" name="Text 42"/>
          <p:cNvSpPr/>
          <p:nvPr/>
        </p:nvSpPr>
        <p:spPr>
          <a:xfrm>
            <a:off x="15240000" y="6332116"/>
            <a:ext cx="198120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A9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+12.1% to +137.4%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220200" y="7254106"/>
            <a:ext cx="20955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report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1487150" y="7294066"/>
            <a:ext cx="3581400" cy="285750"/>
          </a:xfrm>
          <a:prstGeom prst="roundRect">
            <a:avLst>
              <a:gd name="adj" fmla="val 26667"/>
            </a:avLst>
          </a:prstGeom>
          <a:solidFill>
            <a:srgbClr val="EAE8E1"/>
          </a:solidFill>
          <a:ln/>
        </p:spPr>
      </p:sp>
      <p:sp>
        <p:nvSpPr>
          <p:cNvPr id="47" name="Shape 45"/>
          <p:cNvSpPr/>
          <p:nvPr/>
        </p:nvSpPr>
        <p:spPr>
          <a:xfrm>
            <a:off x="11487150" y="7294066"/>
            <a:ext cx="247055" cy="285750"/>
          </a:xfrm>
          <a:prstGeom prst="roundRect">
            <a:avLst>
              <a:gd name="adj" fmla="val 30843"/>
            </a:avLst>
          </a:prstGeom>
          <a:solidFill>
            <a:srgbClr val="E3A79E"/>
          </a:solidFill>
          <a:ln/>
        </p:spPr>
      </p:sp>
      <p:sp>
        <p:nvSpPr>
          <p:cNvPr id="48" name="Shape 46"/>
          <p:cNvSpPr/>
          <p:nvPr/>
        </p:nvSpPr>
        <p:spPr>
          <a:xfrm>
            <a:off x="11487150" y="7294066"/>
            <a:ext cx="80888" cy="285750"/>
          </a:xfrm>
          <a:prstGeom prst="roundRect">
            <a:avLst>
              <a:gd name="adj" fmla="val 50000"/>
            </a:avLst>
          </a:prstGeom>
          <a:solidFill>
            <a:srgbClr val="C0473A"/>
          </a:solidFill>
          <a:ln/>
        </p:spPr>
      </p:sp>
      <p:sp>
        <p:nvSpPr>
          <p:cNvPr id="49" name="Text 47"/>
          <p:cNvSpPr/>
          <p:nvPr/>
        </p:nvSpPr>
        <p:spPr>
          <a:xfrm>
            <a:off x="15240000" y="7254106"/>
            <a:ext cx="20955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A9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+17.1% to +52.4%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 rot="-18000">
            <a:off x="1143783" y="8723003"/>
            <a:ext cx="12268196" cy="800100"/>
          </a:xfrm>
          <a:prstGeom prst="roundRect">
            <a:avLst>
              <a:gd name="adj" fmla="val 19048"/>
            </a:avLst>
          </a:prstGeom>
          <a:solidFill>
            <a:srgbClr val="FBF3E2"/>
          </a:solidFill>
          <a:ln w="28575">
            <a:solidFill>
              <a:srgbClr val="C9A227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1418248" y="8945024"/>
            <a:ext cx="1297869" cy="410624"/>
          </a:xfrm>
          <a:prstGeom prst="roundRect">
            <a:avLst>
              <a:gd name="adj" fmla="val 18557"/>
            </a:avLst>
          </a:prstGeom>
          <a:solidFill>
            <a:srgbClr val="F3E1B0"/>
          </a:solidFill>
          <a:ln/>
        </p:spPr>
      </p:sp>
      <p:sp>
        <p:nvSpPr>
          <p:cNvPr id="52" name="Text 50"/>
          <p:cNvSpPr/>
          <p:nvPr/>
        </p:nvSpPr>
        <p:spPr>
          <a:xfrm>
            <a:off x="1513498" y="8964074"/>
            <a:ext cx="1183569" cy="41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8A6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2885632" y="8925208"/>
            <a:ext cx="11276870" cy="426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dirty="0">
                <a:solidFill>
                  <a:srgbClr val="4A3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meal-prep plan — portion the recipe and you know the grocery bill before you shop.</a:t>
            </a:r>
            <a:endParaRPr lang="en-US" sz="20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176022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36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18245"/>
            <a:ext cx="17602200" cy="830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0" kern="0" spc="-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beats pep talks.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143000" y="5040660"/>
            <a:ext cx="9614535" cy="986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Telling the AI to </a:t>
            </a:r>
            <a:r>
              <a:rPr lang="en-US" sz="2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 genuinely good work" </a:t>
            </a:r>
            <a:r>
              <a:rPr lang="en-US" sz="25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almost no consistency. Giving it an </a:t>
            </a:r>
            <a:r>
              <a:rPr lang="en-US" sz="2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template </a:t>
            </a:r>
            <a:r>
              <a:rPr lang="en-US" sz="25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nearly all of it.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143000" y="6236940"/>
            <a:ext cx="9614535" cy="78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6F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</a:t>
            </a: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of 17 </a:t>
            </a:r>
            <a:r>
              <a:rPr lang="en-US" sz="2025" dirty="0">
                <a:solidFill>
                  <a:srgbClr val="6F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measured, the pep talk delivered less than a third of the template's consistency.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1430000" y="5564535"/>
            <a:ext cx="2457450" cy="104775"/>
          </a:xfrm>
          <a:prstGeom prst="roundRect">
            <a:avLst>
              <a:gd name="adj" fmla="val 50000"/>
            </a:avLst>
          </a:prstGeom>
          <a:solidFill>
            <a:srgbClr val="C0473A"/>
          </a:solidFill>
          <a:ln/>
        </p:spPr>
      </p:sp>
      <p:sp>
        <p:nvSpPr>
          <p:cNvPr id="7" name="Text 5"/>
          <p:cNvSpPr/>
          <p:nvPr/>
        </p:nvSpPr>
        <p:spPr>
          <a:xfrm>
            <a:off x="12041014" y="5859810"/>
            <a:ext cx="131162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"Pep talk"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772826" y="6393210"/>
            <a:ext cx="1771724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6F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essentially none (median −2.6%)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497050" y="3177480"/>
            <a:ext cx="2457450" cy="2491829"/>
          </a:xfrm>
          <a:prstGeom prst="roundRect">
            <a:avLst>
              <a:gd name="adj" fmla="val 4651"/>
            </a:avLst>
          </a:prstGeom>
          <a:solidFill>
            <a:srgbClr val="008BD0"/>
          </a:solidFill>
          <a:ln/>
        </p:spPr>
      </p:sp>
      <p:sp>
        <p:nvSpPr>
          <p:cNvPr id="10" name="Text 8"/>
          <p:cNvSpPr/>
          <p:nvPr/>
        </p:nvSpPr>
        <p:spPr>
          <a:xfrm>
            <a:off x="15146015" y="5859810"/>
            <a:ext cx="12357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4747304" y="6393210"/>
            <a:ext cx="1956941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all of it (the full tightening)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9121155"/>
            <a:ext cx="176022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9A9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Bars: share of the template's run-to-run consistency each approach reproduced. The template is the reference.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176022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36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18245"/>
            <a:ext cx="1760220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250" kern="0" spc="-1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structure isn't a free upgrade.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1143000" y="2221185"/>
            <a:ext cx="14716125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25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took one task and tightened it on purpose — then handed a </a:t>
            </a:r>
            <a:r>
              <a:rPr lang="en-US" sz="23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model </a:t>
            </a:r>
            <a:r>
              <a:rPr lang="en-US" sz="2325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 </a:t>
            </a:r>
            <a:r>
              <a:rPr lang="en-US" sz="23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model </a:t>
            </a:r>
            <a:r>
              <a:rPr lang="en-US" sz="2325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very same template.</a:t>
            </a:r>
            <a:endParaRPr lang="en-US" sz="2325" dirty="0"/>
          </a:p>
        </p:txBody>
      </p:sp>
      <p:sp>
        <p:nvSpPr>
          <p:cNvPr id="5" name="Shape 3"/>
          <p:cNvSpPr/>
          <p:nvPr/>
        </p:nvSpPr>
        <p:spPr>
          <a:xfrm>
            <a:off x="1143000" y="3390826"/>
            <a:ext cx="7791450" cy="5324549"/>
          </a:xfrm>
          <a:prstGeom prst="roundRect">
            <a:avLst>
              <a:gd name="adj" fmla="val 3578"/>
            </a:avLst>
          </a:prstGeom>
          <a:solidFill>
            <a:srgbClr val="FFFFFF"/>
          </a:solidFill>
          <a:ln/>
          <a:effectLst>
            <a:outerShdw blurRad="190500" dist="1905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24000" y="3771826"/>
            <a:ext cx="7732395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kern="0" spc="-24" dirty="0">
                <a:solidFill>
                  <a:srgbClr val="006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template bought the budget model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24000" y="4449961"/>
            <a:ext cx="323701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55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942951" y="4493270"/>
            <a:ext cx="5521076" cy="46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</a:t>
            </a:r>
            <a:r>
              <a:rPr lang="en-US" sz="2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65% fewer tokens on short copy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24000" y="5158606"/>
            <a:ext cx="323701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55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942951" y="5201915"/>
            <a:ext cx="4945998" cy="46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Steadier </a:t>
            </a:r>
            <a:r>
              <a:rPr lang="en-US" sz="2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64% less run-to-run wobble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353550" y="3390826"/>
            <a:ext cx="7791450" cy="5324549"/>
          </a:xfrm>
          <a:prstGeom prst="roundRect">
            <a:avLst>
              <a:gd name="adj" fmla="val 3578"/>
            </a:avLst>
          </a:prstGeom>
          <a:solidFill>
            <a:srgbClr val="FFFFFF"/>
          </a:solidFill>
          <a:ln/>
          <a:effectLst>
            <a:outerShdw blurRad="190500" dist="1905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734550" y="3771826"/>
            <a:ext cx="7732395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kern="0" spc="-24" dirty="0">
                <a:solidFill>
                  <a:srgbClr val="A93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didn't buy: quality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734550" y="4392811"/>
            <a:ext cx="2189716" cy="8267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900" kern="0" spc="-13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– 1</a:t>
            </a:r>
            <a:endParaRPr lang="en-US" sz="6900" dirty="0"/>
          </a:p>
        </p:txBody>
      </p:sp>
      <p:sp>
        <p:nvSpPr>
          <p:cNvPr id="14" name="Text 12"/>
          <p:cNvSpPr/>
          <p:nvPr/>
        </p:nvSpPr>
        <p:spPr>
          <a:xfrm>
            <a:off x="11915701" y="4830961"/>
            <a:ext cx="4993748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blind, head-to-head by a first AI judge — a sibling of the premium model — the premium model's writing still won on short copy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734550" y="6410027"/>
            <a:ext cx="7240334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9A9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long-form work, the budget model could hold the template just 5% of the time.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143000" y="8715375"/>
            <a:ext cx="1648206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buys consistency — not capability. </a:t>
            </a:r>
            <a:r>
              <a:rPr lang="en-US" sz="2250" dirty="0">
                <a:solidFill>
                  <a:srgbClr val="6F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 head-to-head grade came from an AI judge. So — can you trust an AI to grade AI?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80213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36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TWIST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65845"/>
            <a:ext cx="1802130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kern="0" spc="-8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hired an AI to grade the AI's work.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13000" r="-13000"/>
          <a:stretch/>
        </p:blipFill>
        <p:spPr>
          <a:xfrm>
            <a:off x="952500" y="1841153"/>
            <a:ext cx="16383000" cy="72571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350" y="9193560"/>
            <a:ext cx="180213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was confident, consistent, and unanimous with itself — and it agreed with the human owner 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54.9% of the time.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80213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36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POST-MORTEM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3717578"/>
            <a:ext cx="7762219" cy="119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kern="0" spc="-8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judge wasn't bad — the rules were fuzzy.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5144393"/>
            <a:ext cx="776221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audited all </a:t>
            </a: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disagreements. 83% </a:t>
            </a:r>
            <a:r>
              <a:rPr lang="en-US" sz="2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traced to rule-wording two careful readers could each read differently.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6239768"/>
            <a:ext cx="776221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</a:t>
            </a:r>
            <a:r>
              <a:rPr lang="en-US" sz="2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were the judge misapplying its instructions. The problem was the words, not the reader.</a:t>
            </a:r>
            <a:endParaRPr lang="en-US" sz="2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0692" b="-40692"/>
          <a:stretch/>
        </p:blipFill>
        <p:spPr>
          <a:xfrm>
            <a:off x="9022035" y="1184895"/>
            <a:ext cx="8313465" cy="84163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36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AWAY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94445"/>
            <a:ext cx="17602200" cy="830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0" kern="0" spc="-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rules for anyone buying AI.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3685877" y="2415480"/>
            <a:ext cx="10916171" cy="6176070"/>
          </a:xfrm>
          <a:prstGeom prst="roundRect">
            <a:avLst>
              <a:gd name="adj" fmla="val 3084"/>
            </a:avLst>
          </a:prstGeom>
          <a:solidFill>
            <a:srgbClr val="FFFFFF"/>
          </a:solidFill>
          <a:ln/>
          <a:effectLst>
            <a:outerShdw blurRad="19050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52577" y="2605980"/>
            <a:ext cx="10382771" cy="57950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8705" y="8782050"/>
            <a:ext cx="510159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75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everyday tasks cost a steady, plannable amount, run to run.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6593205" y="8782050"/>
            <a:ext cx="510159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75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change both cost and consistency. Pep talks don't.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12117705" y="8782050"/>
            <a:ext cx="510159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75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judge can be confident, consistent, and still wrong. Check it against a person.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36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PRICE OF THE ANSWER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51595"/>
            <a:ext cx="1760220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250" kern="0" spc="-1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cost to find all this out.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1143000" y="4297189"/>
            <a:ext cx="586740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5000" kern="0" spc="-45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≈$212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1143000" y="6068839"/>
            <a:ext cx="5494020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325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API spend — the entire program, read off the providers' own billing meters.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7334250" y="3992017"/>
            <a:ext cx="5494020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6F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decisive experiment — the one behind findings 2 and 3 and the twist — ran on ≈$49 of a $100 self-imposed ceiling.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34250" y="5032102"/>
            <a:ext cx="9810750" cy="381000"/>
          </a:xfrm>
          <a:prstGeom prst="roundRect">
            <a:avLst>
              <a:gd name="adj" fmla="val 25000"/>
            </a:avLst>
          </a:prstGeom>
          <a:solidFill>
            <a:srgbClr val="EAE8E1"/>
          </a:solidFill>
          <a:ln/>
        </p:spPr>
      </p:sp>
      <p:sp>
        <p:nvSpPr>
          <p:cNvPr id="8" name="Shape 6"/>
          <p:cNvSpPr/>
          <p:nvPr/>
        </p:nvSpPr>
        <p:spPr>
          <a:xfrm>
            <a:off x="7334250" y="5032102"/>
            <a:ext cx="4807223" cy="381000"/>
          </a:xfrm>
          <a:prstGeom prst="roundRect">
            <a:avLst>
              <a:gd name="adj" fmla="val 25000"/>
            </a:avLst>
          </a:prstGeom>
          <a:solidFill>
            <a:srgbClr val="008BD0"/>
          </a:solidFill>
          <a:ln/>
        </p:spPr>
      </p:sp>
      <p:sp>
        <p:nvSpPr>
          <p:cNvPr id="9" name="Text 7"/>
          <p:cNvSpPr/>
          <p:nvPr/>
        </p:nvSpPr>
        <p:spPr>
          <a:xfrm>
            <a:off x="7334250" y="5736952"/>
            <a:ext cx="1923931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150" kern="0" spc="-6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6150" dirty="0"/>
          </a:p>
        </p:txBody>
      </p:sp>
      <p:sp>
        <p:nvSpPr>
          <p:cNvPr id="10" name="Text 8"/>
          <p:cNvSpPr/>
          <p:nvPr/>
        </p:nvSpPr>
        <p:spPr>
          <a:xfrm>
            <a:off x="9273778" y="6137002"/>
            <a:ext cx="4120515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6F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 our number sat from the providers' own meters. Measured, not estimated — right down to the receipt.</a:t>
            </a:r>
            <a:endParaRPr lang="en-US" sz="2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36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94445"/>
            <a:ext cx="17602200" cy="830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0" kern="0" spc="-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Fixable rules, or genuine taste?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143000" y="2377380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 is simple: have two or three people grade the same work, blind, and see whether </a:t>
            </a:r>
            <a:r>
              <a:rPr lang="en-US" sz="225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</a:t>
            </a:r>
            <a:r>
              <a:rPr lang="en-US" sz="2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with each other.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3771230" y="3367980"/>
            <a:ext cx="10745539" cy="608082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/>
          <a:effectLst>
            <a:outerShdw blurRad="19050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37930" y="3558480"/>
            <a:ext cx="10212139" cy="56998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8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360" dirty="0">
                <a:solidFill>
                  <a:srgbClr val="CCE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YOURSELF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540472"/>
            <a:ext cx="176022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700" kern="0" spc="-11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is public — and re-checkable.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143000" y="4719638"/>
            <a:ext cx="11039624" cy="1127745"/>
          </a:xfrm>
          <a:prstGeom prst="roundRect">
            <a:avLst>
              <a:gd name="adj" fmla="val 11824"/>
            </a:avLst>
          </a:prstGeom>
          <a:solidFill>
            <a:srgbClr val="FFFFFF">
              <a:alpha val="14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85900" y="4948238"/>
            <a:ext cx="10685013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3300" kern="0" spc="-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github.com/mdsweatt/managing-intelligence-experiments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143000" y="6228383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E0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and analysis are open. Every figure in this deck re-derives from the raw records — no AI account required.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95300"/>
            <a:ext cx="180213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kern="0" spc="360" dirty="0">
                <a:solidFill>
                  <a:srgbClr val="008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75345"/>
            <a:ext cx="18021300" cy="553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kern="0" spc="-7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every number comes from.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1699989"/>
            <a:ext cx="16383000" cy="19050"/>
          </a:xfrm>
          <a:prstGeom prst="rect">
            <a:avLst/>
          </a:prstGeom>
          <a:solidFill>
            <a:srgbClr val="D8D5CC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669604"/>
            <a:ext cx="16383000" cy="9525"/>
          </a:xfrm>
          <a:prstGeom prst="rect">
            <a:avLst/>
          </a:prstGeom>
          <a:solidFill>
            <a:srgbClr val="E4E1D8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823814"/>
            <a:ext cx="29432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task, same cost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4095750" y="1838102"/>
            <a:ext cx="9744075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of 67 task setups in a tight band; median wobble 4.5% (20 runs each)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39750" y="1833339"/>
            <a:ext cx="4218623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06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docs/phase1a-report.md · analysis/output/h1_cov.csv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3650679"/>
            <a:ext cx="16383000" cy="9525"/>
          </a:xfrm>
          <a:prstGeom prst="rect">
            <a:avLst/>
          </a:prstGeom>
          <a:solidFill>
            <a:srgbClr val="E4E1D8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783904"/>
            <a:ext cx="294322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tasks you can only meter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4095750" y="2798192"/>
            <a:ext cx="9123998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thinking ~15%–20%; model medians 4.8% / 3.9% / 4.6% (Haiku / Sonnet / Opus)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39750" y="2793429"/>
            <a:ext cx="4218623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06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docs/phase1a-report.md · analysis/output/h1_cov.csv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4610770"/>
            <a:ext cx="16383000" cy="9525"/>
          </a:xfrm>
          <a:prstGeom prst="rect">
            <a:avLst/>
          </a:prstGeom>
          <a:solidFill>
            <a:srgbClr val="E4E1D8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3764979"/>
            <a:ext cx="29432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of instructions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4095750" y="3779267"/>
            <a:ext cx="895065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of 24; caps −40% to −72%, mandates +12% to +738%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518454" y="3774504"/>
            <a:ext cx="4961557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06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analysis/output/phase1d/h7_sign.csv · docs/phase1d-report.md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2500" y="5575622"/>
            <a:ext cx="16383000" cy="9525"/>
          </a:xfrm>
          <a:prstGeom prst="rect">
            <a:avLst/>
          </a:prstGeom>
          <a:solidFill>
            <a:srgbClr val="E4E1D8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4725070"/>
            <a:ext cx="29432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beats pep talks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4095750" y="4739357"/>
            <a:ext cx="7955828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 talk reproduced a median −2.6% of the tightening; 15 of 17 under a third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105605" y="4734595"/>
            <a:ext cx="5386792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06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analysis/output/phase1d/h8_neutral.csv · docs/phase1d-report.md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2500" y="6556697"/>
            <a:ext cx="16383000" cy="9525"/>
          </a:xfrm>
          <a:prstGeom prst="rect">
            <a:avLst/>
          </a:prstGeom>
          <a:solidFill>
            <a:srgbClr val="E4E1D8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" y="5689922"/>
            <a:ext cx="294322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isn't a free upgrade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4095750" y="5704210"/>
            <a:ext cx="9123998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cut short-copy tokens 65% and wobble 64%; premium model still preferred 12–1; budget model held long-form 5%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39750" y="5699447"/>
            <a:ext cx="4505325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06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docs/phase1c-report.md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52500" y="7156772"/>
            <a:ext cx="16383000" cy="9525"/>
          </a:xfrm>
          <a:prstGeom prst="rect">
            <a:avLst/>
          </a:prstGeom>
          <a:solidFill>
            <a:srgbClr val="E4E1D8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" y="6670997"/>
            <a:ext cx="29432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judge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4095750" y="6685285"/>
            <a:ext cx="9744075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54.9% agreement with the human owner, across 144 graded items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239750" y="6680522"/>
            <a:ext cx="4505325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06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docs/phase1d-report.md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52500" y="7756847"/>
            <a:ext cx="16383000" cy="9525"/>
          </a:xfrm>
          <a:prstGeom prst="rect">
            <a:avLst/>
          </a:prstGeom>
          <a:solidFill>
            <a:srgbClr val="E4E1D8"/>
          </a:solidFill>
          <a:ln/>
        </p:spPr>
      </p:sp>
      <p:sp>
        <p:nvSpPr>
          <p:cNvPr id="30" name="Text 28"/>
          <p:cNvSpPr/>
          <p:nvPr/>
        </p:nvSpPr>
        <p:spPr>
          <a:xfrm>
            <a:off x="952500" y="7271072"/>
            <a:ext cx="29432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judge failed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4095750" y="7285360"/>
            <a:ext cx="9744075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disagreements: 83% rule-wording, 17% human slips, 0% judge error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239750" y="7280597"/>
            <a:ext cx="4505325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06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docs/phase1d-report.md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52500" y="9087445"/>
            <a:ext cx="16383000" cy="9525"/>
          </a:xfrm>
          <a:prstGeom prst="rect">
            <a:avLst/>
          </a:prstGeom>
          <a:solidFill>
            <a:srgbClr val="E4E1D8"/>
          </a:solidFill>
          <a:ln/>
        </p:spPr>
      </p:sp>
      <p:sp>
        <p:nvSpPr>
          <p:cNvPr id="34" name="Text 32"/>
          <p:cNvSpPr/>
          <p:nvPr/>
        </p:nvSpPr>
        <p:spPr>
          <a:xfrm>
            <a:off x="952500" y="7871147"/>
            <a:ext cx="29432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cost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4095750" y="7885435"/>
            <a:ext cx="9123998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total $211.52 — Anthropic $190.34 + judge $21.18, read off the providers' billing meters (2026-06-18 → 07-05); the final experiment ≈$49 of a $100 ceiling; harness and provider meters agreed to 0.3%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239750" y="7880672"/>
            <a:ext cx="4218623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006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analysis/output/phase1d-judge-run-note.md · provider billing export (Console)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52500" y="9425955"/>
            <a:ext cx="1802130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9A9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source: github.com/mdsweatt/managing-intelligence-experiments (public release v1.0)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6438</TotalTime>
  <Words>2049</Words>
  <Application>Microsoft Macintosh PowerPoint</Application>
  <PresentationFormat>Custom</PresentationFormat>
  <Paragraphs>177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Sweatt</cp:lastModifiedBy>
  <cp:revision>4</cp:revision>
  <dcterms:created xsi:type="dcterms:W3CDTF">2026-07-05T03:08:33Z</dcterms:created>
  <dcterms:modified xsi:type="dcterms:W3CDTF">2026-07-09T14:28:11Z</dcterms:modified>
</cp:coreProperties>
</file>