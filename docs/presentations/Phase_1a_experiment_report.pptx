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82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184" y="2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4988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whole thing: enterprises want to budget AI per unit of work, but everyone says you can't because token cost is unpredictable. This is Phase 1a of a larger program — the piece that asks whether a per-task budget is even a coherent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anyone should care. Enterprises budget headcount, capex, opex — everything by the unit. AI is the exception: 'do what you think is best with the credit card.' And the pressure is now real and public — these three signals are from mid-2026 earnings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claim everyone repeats as if it were settled fact. The whole experiment exists to treat it as a hypothesis instead — and the pre-registration sharpens it: discrete tasks should band, fan-out is where it breaks.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Stated up front so nothing is oversold. This run is the everyday, low-fan-out half. The hard agentic half — where we predicted cost is hardest to band — was deliberately deferred to Phase 1b. We did NOT prove 'AI cost is budgetable'; we tested the everyday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sharpened, falsifiable question. A cell is one task at one load size on one model under one fixed config. The threshold was pre-registered before any data existed: under ~15% you can budget a task to a band; persistently over ~20% you can only monitor its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shape of the run. A cell is task × load size × model × config. Each ran a flat, pre-committed N=20 — no peeking and extending a noisy cell, which would quietly p-hack the variance downward. Every record carries the exact config and fixture hash, so any run replays from its record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discipline the whole thing rests on: measure, don't estimate. The API returns exact token counts on every call — that IS the data; we never substitute a guessed number. Walk the five controls; the frozen-fixture and one-thing-moves points are what make the variance attributable.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headline. For each cell we took the coefficient of variation of cost across the 20 runs. 62 of 67 came in under the 15% bandable line, median 4.5%. The workhorse tasks are budgetable. This is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cell, sorted by variability. The vast majority sit far below the 15% bandable line. Only the thinking, iteration and large-payload tasks climb toward the 20% kill-edge. The floor is genuinely flat — classification is exactly 0%, translation about half a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that didn't band. They are not random — every one is a high-latitude task: open-ended reasoning, multi-turn iteration, or a large analytical payload. The important twist: all five are LOW-fan-out, which is not where our pre-registration expected the noise. Hold that thought for slide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there a slot-machine model to blame? No. Grouped by model the median variability is flat — single-digit percent across all three. But that's a statement about main effects, not interactions: on a GIVEN task, model choice can swing variability massively. Same frozen dataset, Opus 0.3% vs Sonnet 16.7%, because the two models choose to write very different amounts of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variability that exists is structured. Group cells by their cost axis and a clean monotonic ladder appears — it tracks how much latitude the model has over how much to produce. Bounded tasks sit near 1-2%. Open-ended thinking is the only axis in the danger zone, about 8x higher. Multi-turn sits mid-ladder because each turn's output becomes the next turn's input — latitude compounds.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proof of where the variance comes from. Because the input artifact is frozen, the tokenizer turns it into the exact same tokens every run — so the input's cost is identical and its variability is exactly 0% on every cell. Therefore 100% of run-to-run cost variance is in the output. Every point falls on or below the y=x line; a point far below has wildly variable output that barely matters because output is a sliver of its cost. #18 is the showcase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collapses the whole metric to one identity: cost variability equals how much the output varies, times the output's share of cost. It explains every case with a single mechanism — including the bandable ones. A task stays budgetable if its output is pinned, OR if its output is a small slice of the bill. A task is unbandable only when neither is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identity points to two levers to make a task bandable — both architectural choices, not model choices. Lever A: pin the output with skills, scripts, schemas, length caps — this is the one we have NOT yet proven causally and it's what the A/B will test. Lever B: make the deterministic cost a big share, e.g. a large fixed context — this one is just algebra. One precision: caching is a COST lever, not a variance lever; it actually raises output's share slightly. Push either lever down and the band tightens.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honesty slide, and the one to not skip. Our pre-registration predicted variance would track FAN-OUT, and said 'surprised if a discrete cell is noisy.' Two things follow. One: the fan-out half is untested — every high-fan-out task is deferred. Two: among the low-fan-out tasks we did measure, the noisy ones track OUTPUT LATITUDE — a driver we never named. So we report output latitude as an unplanned, post-hoc finding — flagged, not folded into the pre-registration. Calling this a confirmation would be a retrofit. The kill-condition has not been triggered.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limits, stated so nothing is oversold. The hard half is untested — and our prediction was about exactly that half. It's a correlation, not yet a cause — we haven't taken one task and manipulated its determinism. And it's one snapshot: a single run, N=20, June-2026 models and prices. We are not claiming 'AI cost is predictable.' We're claiming something narrower and more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this means for managing intelligence. Per-task budgeting is coherent for most tasks — and you can label a task 'budget this' vs 'meter this' from its shape, before you ever run it. The durable artifact is an instrument, not a price sheet: bands are model-and-tokenizer-specific and shift each generation, so the value is the machine that re-measures them. And determinism — skills, scripting, a large fixed context — is a cost-control lever, not just a quality lever.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follow-ons in priority order. Phase 1b measures the agentic regime the same disciplined way — it's the only thing that can fire or clear the kill-condition, and it answers the obvious critique that this run only covered easy tasks. Then the determinism A/B: take one fixed task, run it prompted vs skill-scripted, hold the model constant, and measure all three things — does the band tighten, does it get cheaper, and does a cheaper model now match a premium one on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narrowed, durable claim. Not the sweeping 'AI cost is predictable' — but the sharper, more useful version: for discrete tasks, token cost is budgetable, and we have a rule for telling which tasks those are. The agentic half is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819150"/>
            <a:ext cx="1764411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324" dirty="0">
                <a:solidFill>
                  <a:srgbClr val="34A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INTELLIGENCE · EXPERIMENT 1 — STABILITY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2669977"/>
            <a:ext cx="14716125" cy="2801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100" kern="0" spc="-27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put a budget on a token?</a:t>
            </a:r>
            <a:endParaRPr lang="en-US" sz="11100" dirty="0"/>
          </a:p>
        </p:txBody>
      </p:sp>
      <p:sp>
        <p:nvSpPr>
          <p:cNvPr id="4" name="Text 2"/>
          <p:cNvSpPr/>
          <p:nvPr/>
        </p:nvSpPr>
        <p:spPr>
          <a:xfrm>
            <a:off x="1123950" y="5756821"/>
            <a:ext cx="11576685" cy="1622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3150" dirty="0">
                <a:solidFill>
                  <a:srgbClr val="9DB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controlled experiment on whether the everyday tasks knowledge work is made of have a token cost stable enough to actually budget.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123950" y="8825954"/>
            <a:ext cx="202919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E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1a results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23950" y="9223102"/>
            <a:ext cx="202919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9DB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2026-06-25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425875" y="8946877"/>
            <a:ext cx="9525" cy="5143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892600" y="8825954"/>
            <a:ext cx="3632746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E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cells · N = 20 each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892600" y="9223102"/>
            <a:ext cx="3632746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9DB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2,069 records, 0 quarantined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652296" y="8946877"/>
            <a:ext cx="9525" cy="5143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119021" y="9024491"/>
            <a:ext cx="4132146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9DB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run-20260624T112122Z-cfa60e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819150"/>
            <a:ext cx="1764411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288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37295"/>
            <a:ext cx="14225588" cy="1583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850" kern="0" spc="-117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Enterprises budget everything by the unit. AI is the exception.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123950" y="3244528"/>
            <a:ext cx="16040100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5" name="Shape 3"/>
          <p:cNvSpPr/>
          <p:nvPr/>
        </p:nvSpPr>
        <p:spPr>
          <a:xfrm>
            <a:off x="1123950" y="3730303"/>
            <a:ext cx="5168875" cy="2868885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9525">
            <a:solidFill>
              <a:srgbClr val="E0DA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5425" y="4120828"/>
            <a:ext cx="486851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500%+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495425" y="5168578"/>
            <a:ext cx="4558703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one bank's LLM token usage since 2025 — reported on its own Q2 earnings call.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59525" y="3730303"/>
            <a:ext cx="5168875" cy="2868885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9525">
            <a:solidFill>
              <a:srgbClr val="E0DA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31000" y="4120828"/>
            <a:ext cx="486851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~300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931000" y="5168578"/>
            <a:ext cx="4558703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firms flagged token costs on earnings calls this spring — up from 93 a year earlier.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995100" y="3730303"/>
            <a:ext cx="5168950" cy="2868885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9525">
            <a:solidFill>
              <a:srgbClr val="E0DA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66575" y="4120828"/>
            <a:ext cx="4558780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5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· Uber Salesforce</a:t>
            </a:r>
            <a:endParaRPr lang="en-US" sz="4650" dirty="0"/>
          </a:p>
        </p:txBody>
      </p:sp>
      <p:sp>
        <p:nvSpPr>
          <p:cNvPr id="13" name="Text 11"/>
          <p:cNvSpPr/>
          <p:nvPr/>
        </p:nvSpPr>
        <p:spPr>
          <a:xfrm>
            <a:off x="12366575" y="5494213"/>
            <a:ext cx="455878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now cap how much AI their own employees can spend.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23950" y="8789789"/>
            <a:ext cx="1652130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blocker named again and again isn't price — it's </a:t>
            </a:r>
            <a:r>
              <a:rPr lang="en-US" sz="19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unpredictability </a:t>
            </a: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Source: mid-2026 earnings coverage (TechCrunch, SmarterX / Marketing AI Institute).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2701677"/>
            <a:ext cx="1764411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288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FOLK WISDOM UNDER TEST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3391272"/>
            <a:ext cx="15304770" cy="2238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50" kern="0" spc="-165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can't budget tokens — </a:t>
            </a:r>
            <a:r>
              <a:rPr lang="en-US" sz="8250" kern="0" spc="-165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is unpredictable. </a:t>
            </a:r>
            <a:r>
              <a:rPr lang="en-US" sz="8250" kern="0" spc="-165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1123950" y="6086847"/>
            <a:ext cx="12557760" cy="1650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31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Mainstream coverage now asserts it plainly. We treated it as a </a:t>
            </a:r>
            <a:r>
              <a:rPr lang="en-US" sz="31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hypothesis, not a fact </a:t>
            </a:r>
            <a:r>
              <a:rPr lang="en-US" sz="31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wrote down, in advance, the result that would prove us wrong.</a:t>
            </a:r>
            <a:endParaRPr lang="en-US" sz="3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819150"/>
            <a:ext cx="1764411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288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DECLARED UP FRONT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37295"/>
            <a:ext cx="17644110" cy="8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850" kern="0" spc="-117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tested the everyday half — on purpose.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123950" y="2586186"/>
            <a:ext cx="7867650" cy="6995964"/>
          </a:xfrm>
          <a:prstGeom prst="roundRect">
            <a:avLst>
              <a:gd name="adj" fmla="val 81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123950" y="9572625"/>
            <a:ext cx="7867650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6" name="Shape 4"/>
          <p:cNvSpPr/>
          <p:nvPr/>
        </p:nvSpPr>
        <p:spPr>
          <a:xfrm>
            <a:off x="1123950" y="2586186"/>
            <a:ext cx="7867650" cy="47625"/>
          </a:xfrm>
          <a:prstGeom prst="rect">
            <a:avLst/>
          </a:prstGeom>
          <a:solidFill>
            <a:srgbClr val="2F8F6B"/>
          </a:solidFill>
          <a:ln/>
        </p:spPr>
      </p:sp>
      <p:sp>
        <p:nvSpPr>
          <p:cNvPr id="7" name="Shape 5"/>
          <p:cNvSpPr/>
          <p:nvPr/>
        </p:nvSpPr>
        <p:spPr>
          <a:xfrm>
            <a:off x="1123950" y="2586186"/>
            <a:ext cx="9525" cy="6995964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8" name="Shape 6"/>
          <p:cNvSpPr/>
          <p:nvPr/>
        </p:nvSpPr>
        <p:spPr>
          <a:xfrm>
            <a:off x="8982075" y="2586186"/>
            <a:ext cx="9525" cy="6995964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9" name="Text 7"/>
          <p:cNvSpPr/>
          <p:nvPr/>
        </p:nvSpPr>
        <p:spPr>
          <a:xfrm>
            <a:off x="1571625" y="3052911"/>
            <a:ext cx="766953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216" dirty="0">
                <a:solidFill>
                  <a:srgbClr val="2F8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RUN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1625" y="3590106"/>
            <a:ext cx="766953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70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Discrete, low-fan-out tasks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571625" y="4348237"/>
            <a:ext cx="7181469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75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· rewrite · classify · translate · summarize · extract · Q&amp;A · long-form draft · cached-KB lookup · multi-turn debug · iterative refine · analyze a dataset · strategy brief.</a:t>
            </a:r>
            <a:endParaRPr lang="en-US" sz="2475" dirty="0"/>
          </a:p>
        </p:txBody>
      </p:sp>
      <p:sp>
        <p:nvSpPr>
          <p:cNvPr id="12" name="Text 10"/>
          <p:cNvSpPr/>
          <p:nvPr/>
        </p:nvSpPr>
        <p:spPr>
          <a:xfrm>
            <a:off x="1571625" y="8757345"/>
            <a:ext cx="7181469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tasks — the workhorses of knowledge work.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296400" y="2586186"/>
            <a:ext cx="7867650" cy="6995964"/>
          </a:xfrm>
          <a:prstGeom prst="roundRect">
            <a:avLst>
              <a:gd name="adj" fmla="val 817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296400" y="9572625"/>
            <a:ext cx="7867650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15" name="Shape 13"/>
          <p:cNvSpPr/>
          <p:nvPr/>
        </p:nvSpPr>
        <p:spPr>
          <a:xfrm>
            <a:off x="9296400" y="2586186"/>
            <a:ext cx="7867650" cy="47625"/>
          </a:xfrm>
          <a:prstGeom prst="rect">
            <a:avLst/>
          </a:prstGeom>
          <a:solidFill>
            <a:srgbClr val="C2603B"/>
          </a:solidFill>
          <a:ln/>
        </p:spPr>
      </p:sp>
      <p:sp>
        <p:nvSpPr>
          <p:cNvPr id="16" name="Shape 14"/>
          <p:cNvSpPr/>
          <p:nvPr/>
        </p:nvSpPr>
        <p:spPr>
          <a:xfrm>
            <a:off x="9296400" y="2586186"/>
            <a:ext cx="9525" cy="6995964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17" name="Shape 15"/>
          <p:cNvSpPr/>
          <p:nvPr/>
        </p:nvSpPr>
        <p:spPr>
          <a:xfrm>
            <a:off x="17154525" y="2586186"/>
            <a:ext cx="9525" cy="6995964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18" name="Text 16"/>
          <p:cNvSpPr/>
          <p:nvPr/>
        </p:nvSpPr>
        <p:spPr>
          <a:xfrm>
            <a:off x="9744075" y="3052911"/>
            <a:ext cx="766953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216" dirty="0">
                <a:solidFill>
                  <a:srgbClr val="C26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OUT → PHASE 1B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44075" y="3590106"/>
            <a:ext cx="766953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70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Agentic, high-fan-out work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744075" y="4348237"/>
            <a:ext cx="7181469" cy="1452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75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 research · competitive analysis across many pages · multi-file refactor · codebase audit.</a:t>
            </a:r>
            <a:endParaRPr lang="en-US" sz="2475" dirty="0"/>
          </a:p>
        </p:txBody>
      </p:sp>
      <p:sp>
        <p:nvSpPr>
          <p:cNvPr id="21" name="Text 19"/>
          <p:cNvSpPr/>
          <p:nvPr/>
        </p:nvSpPr>
        <p:spPr>
          <a:xfrm>
            <a:off x="9744075" y="8361164"/>
            <a:ext cx="7181469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where we predicted cost is hardest to band — the single most important caveat on everything that follows.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819150"/>
            <a:ext cx="1764411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288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QUESTION, MADE PRECISE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75395"/>
            <a:ext cx="15304770" cy="2049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kern="0" spc="-96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same task on the same input twenty times. Is the cost stable enough to express as a band?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23950" y="3901380"/>
            <a:ext cx="16040100" cy="2945011"/>
          </a:xfrm>
          <a:prstGeom prst="roundRect">
            <a:avLst>
              <a:gd name="adj" fmla="val 2587"/>
            </a:avLst>
          </a:prstGeom>
          <a:solidFill>
            <a:srgbClr val="FFFFFF"/>
          </a:solidFill>
          <a:ln w="9525">
            <a:solidFill>
              <a:srgbClr val="E0DA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7825" y="4349055"/>
            <a:ext cx="1649158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b="1" kern="0" spc="195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PRE-REGISTERED THRESHOLD — WRITTEN BEFORE ANY DATA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647825" y="5030986"/>
            <a:ext cx="8995395" cy="800100"/>
          </a:xfrm>
          <a:prstGeom prst="rect">
            <a:avLst/>
          </a:prstGeom>
          <a:solidFill>
            <a:srgbClr val="2F8F6B"/>
          </a:solidFill>
          <a:ln/>
        </p:spPr>
      </p:sp>
      <p:sp>
        <p:nvSpPr>
          <p:cNvPr id="7" name="Text 5"/>
          <p:cNvSpPr/>
          <p:nvPr/>
        </p:nvSpPr>
        <p:spPr>
          <a:xfrm>
            <a:off x="1971675" y="5030986"/>
            <a:ext cx="894140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15% → BUDGET IT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643220" y="5030986"/>
            <a:ext cx="2098923" cy="800100"/>
          </a:xfrm>
          <a:prstGeom prst="rect">
            <a:avLst/>
          </a:prstGeom>
          <a:solidFill>
            <a:srgbClr val="C2872A"/>
          </a:solidFill>
          <a:ln/>
        </p:spPr>
      </p:sp>
      <p:sp>
        <p:nvSpPr>
          <p:cNvPr id="9" name="Text 7"/>
          <p:cNvSpPr/>
          <p:nvPr/>
        </p:nvSpPr>
        <p:spPr>
          <a:xfrm>
            <a:off x="10605120" y="5030986"/>
            <a:ext cx="217512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borderline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742143" y="5030986"/>
            <a:ext cx="3898032" cy="8001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13027893" y="5030986"/>
            <a:ext cx="372922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20% → METER IT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647825" y="6002536"/>
            <a:ext cx="6351493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 of variation across 20 identical runs →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924949" y="6002536"/>
            <a:ext cx="9586749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tight band = predictable. A wide one = you can only watch the distribution.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23950" y="7170241"/>
            <a:ext cx="1652130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</a:t>
            </a:r>
            <a:r>
              <a:rPr lang="en-US" sz="19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within-cell, run-to-run </a:t>
            </a: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— the model's own die-roll on a frozen input. Different model on the same task is a separate axis, kept strictly apart.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819150"/>
            <a:ext cx="1764411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288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RUN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37295"/>
            <a:ext cx="17644110" cy="8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850" kern="0" spc="-117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cell = one task × load × model × config.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123950" y="2452836"/>
            <a:ext cx="16040100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5" name="Shape 3"/>
          <p:cNvSpPr/>
          <p:nvPr/>
        </p:nvSpPr>
        <p:spPr>
          <a:xfrm>
            <a:off x="1123950" y="2900511"/>
            <a:ext cx="5194250" cy="2706514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 w="9525">
            <a:solidFill>
              <a:srgbClr val="E0DA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6375" y="3512716"/>
            <a:ext cx="493834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476375" y="4598566"/>
            <a:ext cx="493834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measured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46800" y="2900511"/>
            <a:ext cx="5194325" cy="2706514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 w="9525">
            <a:solidFill>
              <a:srgbClr val="E0DA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99225" y="3314626"/>
            <a:ext cx="4938422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00" dirty="0"/>
          </a:p>
        </p:txBody>
      </p:sp>
      <p:sp>
        <p:nvSpPr>
          <p:cNvPr id="10" name="Text 8"/>
          <p:cNvSpPr/>
          <p:nvPr/>
        </p:nvSpPr>
        <p:spPr>
          <a:xfrm>
            <a:off x="6899225" y="4400476"/>
            <a:ext cx="4624159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runs per cell — flat, pre-committed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969725" y="2900511"/>
            <a:ext cx="5194250" cy="2706514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 w="9525">
            <a:solidFill>
              <a:srgbClr val="E0DA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22150" y="3314626"/>
            <a:ext cx="493834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2,069</a:t>
            </a:r>
            <a:endParaRPr lang="en-US" sz="7800" dirty="0"/>
          </a:p>
        </p:txBody>
      </p:sp>
      <p:sp>
        <p:nvSpPr>
          <p:cNvPr id="13" name="Text 11"/>
          <p:cNvSpPr/>
          <p:nvPr/>
        </p:nvSpPr>
        <p:spPr>
          <a:xfrm>
            <a:off x="12322150" y="4400476"/>
            <a:ext cx="4624082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(API calls), not runs · </a:t>
            </a:r>
            <a:r>
              <a:rPr lang="en-US" sz="1950" b="1" dirty="0">
                <a:solidFill>
                  <a:srgbClr val="2F8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quarantined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23950" y="5835625"/>
            <a:ext cx="5194250" cy="2706514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 w="9525">
            <a:solidFill>
              <a:srgbClr val="E0DA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6375" y="6447830"/>
            <a:ext cx="493834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800" dirty="0"/>
          </a:p>
        </p:txBody>
      </p:sp>
      <p:sp>
        <p:nvSpPr>
          <p:cNvPr id="16" name="Text 14"/>
          <p:cNvSpPr/>
          <p:nvPr/>
        </p:nvSpPr>
        <p:spPr>
          <a:xfrm>
            <a:off x="1476375" y="7533680"/>
            <a:ext cx="493834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tasks across 4 families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6546800" y="5835625"/>
            <a:ext cx="5194325" cy="2706514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 w="9525">
            <a:solidFill>
              <a:srgbClr val="E0DA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99225" y="6249739"/>
            <a:ext cx="4938422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800" dirty="0"/>
          </a:p>
        </p:txBody>
      </p:sp>
      <p:sp>
        <p:nvSpPr>
          <p:cNvPr id="19" name="Text 17"/>
          <p:cNvSpPr/>
          <p:nvPr/>
        </p:nvSpPr>
        <p:spPr>
          <a:xfrm>
            <a:off x="6899225" y="7335589"/>
            <a:ext cx="4624159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— Haiku 4.5 · Sonnet 4.6 · Opus 4.8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969725" y="5835625"/>
            <a:ext cx="5194250" cy="2706514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 w="9525">
            <a:solidFill>
              <a:srgbClr val="E0DA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22150" y="6447830"/>
            <a:ext cx="493834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14.05M</a:t>
            </a:r>
            <a:endParaRPr lang="en-US" sz="7800" dirty="0"/>
          </a:p>
        </p:txBody>
      </p:sp>
      <p:sp>
        <p:nvSpPr>
          <p:cNvPr id="22" name="Text 20"/>
          <p:cNvSpPr/>
          <p:nvPr/>
        </p:nvSpPr>
        <p:spPr>
          <a:xfrm>
            <a:off x="12322150" y="7533680"/>
            <a:ext cx="493834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· ~17.2 h wall-clock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23950" y="8789789"/>
            <a:ext cx="15304770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9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</a:t>
            </a: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one API call; a </a:t>
            </a:r>
            <a:r>
              <a:rPr lang="en-US" sz="19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</a:t>
            </a: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one execution of a cell. Cache warm-writes and multi-turn turns add calls, so records (1,000 + 189 + 880 = 2,069) exceed the 67 × 20 = 1,340 cell-runs — but every cell is still N = 20 runs.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819150"/>
            <a:ext cx="1764411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288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37295"/>
            <a:ext cx="17644110" cy="8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850" kern="0" spc="-117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Measure, don't estimate.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123950" y="2509986"/>
            <a:ext cx="476250" cy="5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55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733550" y="2557611"/>
            <a:ext cx="755282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usage vector, every call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733550" y="3052911"/>
            <a:ext cx="7552821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Input, output, cache-read, cache-write, thinking — captured separately. They aren't fungible.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23950" y="3955852"/>
            <a:ext cx="476250" cy="5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55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733550" y="4003477"/>
            <a:ext cx="755282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moves at a time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733550" y="4498777"/>
            <a:ext cx="7552821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a cell everything is frozen, so only model stochasticity varies. Across cells, exactly one axis changes.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23950" y="5401717"/>
            <a:ext cx="476250" cy="5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55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733550" y="5449342"/>
            <a:ext cx="755282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Frozen, hashed fixtures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733550" y="5944642"/>
            <a:ext cx="7552821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artifacts pinned by hash in advance — the same input is provably reused, never regenerated.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23950" y="6847582"/>
            <a:ext cx="476250" cy="5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55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733550" y="6895207"/>
            <a:ext cx="755282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now, dollars later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733550" y="7390507"/>
            <a:ext cx="7552821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store raw token counts; price is one scalar applied at analysis time, never baked in.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23950" y="8293447"/>
            <a:ext cx="476250" cy="5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55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733550" y="8341072"/>
            <a:ext cx="755282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Pre-registered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733550" y="8836372"/>
            <a:ext cx="7552821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and kill-condition written before any data — results are pointers to data, never retrofitted.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599786" y="2509986"/>
            <a:ext cx="7564264" cy="7072164"/>
          </a:xfrm>
          <a:prstGeom prst="roundRect">
            <a:avLst>
              <a:gd name="adj" fmla="val 1077"/>
            </a:avLst>
          </a:prstGeom>
          <a:solidFill>
            <a:srgbClr val="0E2733"/>
          </a:solidFill>
          <a:ln/>
        </p:spPr>
      </p:sp>
      <p:sp>
        <p:nvSpPr>
          <p:cNvPr id="20" name="Text 18"/>
          <p:cNvSpPr/>
          <p:nvPr/>
        </p:nvSpPr>
        <p:spPr>
          <a:xfrm>
            <a:off x="10133186" y="4610323"/>
            <a:ext cx="6692388" cy="1206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API returns exact token counts on every call.</a:t>
            </a:r>
            <a:endParaRPr lang="en-US" sz="3900" dirty="0"/>
          </a:p>
        </p:txBody>
      </p:sp>
      <p:sp>
        <p:nvSpPr>
          <p:cNvPr id="21" name="Text 19"/>
          <p:cNvSpPr/>
          <p:nvPr/>
        </p:nvSpPr>
        <p:spPr>
          <a:xfrm>
            <a:off x="10133186" y="5855419"/>
            <a:ext cx="7147210" cy="622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900" dirty="0">
                <a:solidFill>
                  <a:srgbClr val="34A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the data.”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10133186" y="6763717"/>
            <a:ext cx="6692388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9DB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substitute a guessed number for one a call would return.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2654498"/>
            <a:ext cx="1764411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288" dirty="0">
                <a:solidFill>
                  <a:srgbClr val="34A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HEADLINE RESULT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3488010"/>
            <a:ext cx="6542871" cy="312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7000" kern="0" spc="-8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r>
              <a:rPr lang="en-US" sz="15000" kern="0" spc="-810" dirty="0">
                <a:solidFill>
                  <a:srgbClr val="9DB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/67</a:t>
            </a:r>
            <a:endParaRPr lang="en-US" sz="27000" dirty="0"/>
          </a:p>
        </p:txBody>
      </p:sp>
      <p:sp>
        <p:nvSpPr>
          <p:cNvPr id="4" name="Text 2"/>
          <p:cNvSpPr/>
          <p:nvPr/>
        </p:nvSpPr>
        <p:spPr>
          <a:xfrm>
            <a:off x="7834015" y="3305994"/>
            <a:ext cx="7456170" cy="1720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3450" dirty="0">
                <a:solidFill>
                  <a:srgbClr val="E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came in </a:t>
            </a:r>
            <a:r>
              <a:rPr lang="en-US" sz="3450" b="1" dirty="0">
                <a:solidFill>
                  <a:srgbClr val="34A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 enough to budget </a:t>
            </a:r>
            <a:r>
              <a:rPr lang="en-US" sz="3450" dirty="0">
                <a:solidFill>
                  <a:srgbClr val="E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coefficient of variation under 15%.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7834015" y="5445547"/>
            <a:ext cx="222049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7834015" y="6359947"/>
            <a:ext cx="2220493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9DB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variability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366995" y="5445547"/>
            <a:ext cx="2614382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10366995" y="6359947"/>
            <a:ext cx="2614382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9DB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worst cell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23950" y="7289527"/>
            <a:ext cx="14716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dirty="0">
                <a:solidFill>
                  <a:srgbClr val="9DB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Drafting, classifying, translating, summarizing, extracting — the everyday tasks — are </a:t>
            </a:r>
            <a:r>
              <a:rPr lang="en-US" sz="2250" b="1" dirty="0">
                <a:solidFill>
                  <a:srgbClr val="E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budgetable</a:t>
            </a:r>
            <a:r>
              <a:rPr lang="en-US" sz="2250" dirty="0">
                <a:solidFill>
                  <a:srgbClr val="9DB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819150"/>
            <a:ext cx="9121073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288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18245"/>
            <a:ext cx="9121073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50" kern="0" spc="-8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Within-cell variability, all 67 cells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1684571" y="1550268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008BD0"/>
          </a:solidFill>
          <a:ln/>
        </p:spPr>
      </p:sp>
      <p:sp>
        <p:nvSpPr>
          <p:cNvPr id="5" name="Text 3"/>
          <p:cNvSpPr/>
          <p:nvPr/>
        </p:nvSpPr>
        <p:spPr>
          <a:xfrm>
            <a:off x="11989371" y="1411550"/>
            <a:ext cx="220771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/ payload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4406637" y="1550268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2F8F6B"/>
          </a:solidFill>
          <a:ln/>
        </p:spPr>
      </p:sp>
      <p:sp>
        <p:nvSpPr>
          <p:cNvPr id="7" name="Text 5"/>
          <p:cNvSpPr/>
          <p:nvPr/>
        </p:nvSpPr>
        <p:spPr>
          <a:xfrm>
            <a:off x="14711437" y="1411550"/>
            <a:ext cx="77093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5691917" y="1550268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C2603B"/>
          </a:solidFill>
          <a:ln/>
        </p:spPr>
      </p:sp>
      <p:sp>
        <p:nvSpPr>
          <p:cNvPr id="9" name="Text 7"/>
          <p:cNvSpPr/>
          <p:nvPr/>
        </p:nvSpPr>
        <p:spPr>
          <a:xfrm>
            <a:off x="15996717" y="1411550"/>
            <a:ext cx="124353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</a:t>
            </a:r>
            <a:endParaRPr lang="en-US" sz="19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950" y="2184574"/>
            <a:ext cx="16040100" cy="69137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23950" y="9185970"/>
            <a:ext cx="1160399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bar is one cell's run-to-run variability (CoV of dollar-weighted cost), sorted low → high.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2155537" y="9185970"/>
            <a:ext cx="5509364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Floor: classification 0.0% · translation ≈ 0.5%.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819150"/>
            <a:ext cx="1764411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288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37295"/>
            <a:ext cx="17644110" cy="8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850" kern="0" spc="-117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cells that wouldn't band.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123950" y="2509986"/>
            <a:ext cx="16040100" cy="19050"/>
          </a:xfrm>
          <a:prstGeom prst="rect">
            <a:avLst/>
          </a:prstGeom>
          <a:solidFill>
            <a:srgbClr val="1C1813"/>
          </a:solidFill>
          <a:ln/>
        </p:spPr>
      </p:sp>
      <p:sp>
        <p:nvSpPr>
          <p:cNvPr id="5" name="Shape 3"/>
          <p:cNvSpPr/>
          <p:nvPr/>
        </p:nvSpPr>
        <p:spPr>
          <a:xfrm>
            <a:off x="1123950" y="3268117"/>
            <a:ext cx="16040100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6" name="Text 4"/>
          <p:cNvSpPr/>
          <p:nvPr/>
        </p:nvSpPr>
        <p:spPr>
          <a:xfrm>
            <a:off x="1200150" y="2700486"/>
            <a:ext cx="8488494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b="1" kern="0" spc="117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916963" y="2700486"/>
            <a:ext cx="4993347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b="1" kern="0" spc="117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LATITUDE FAMILY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093221" y="2700486"/>
            <a:ext cx="3994629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1950" b="1" kern="0" spc="117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123950" y="4184377"/>
            <a:ext cx="16040100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10" name="Text 8"/>
          <p:cNvSpPr/>
          <p:nvPr/>
        </p:nvSpPr>
        <p:spPr>
          <a:xfrm>
            <a:off x="1200150" y="3487192"/>
            <a:ext cx="8488494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brief · thinking-on · Sonnet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916963" y="3487192"/>
            <a:ext cx="4993347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depth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093221" y="3487192"/>
            <a:ext cx="3994629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23950" y="5100638"/>
            <a:ext cx="16040100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14" name="Text 12"/>
          <p:cNvSpPr/>
          <p:nvPr/>
        </p:nvSpPr>
        <p:spPr>
          <a:xfrm>
            <a:off x="1200150" y="4403452"/>
            <a:ext cx="8488494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brief · thinking-on · Sonnet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916963" y="4403452"/>
            <a:ext cx="4993347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depth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093221" y="4403452"/>
            <a:ext cx="3994629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2400" b="1" dirty="0">
                <a:solidFill>
                  <a:srgbClr val="C2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19.9%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123950" y="6016898"/>
            <a:ext cx="16040100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18" name="Text 16"/>
          <p:cNvSpPr/>
          <p:nvPr/>
        </p:nvSpPr>
        <p:spPr>
          <a:xfrm>
            <a:off x="1200150" y="5319713"/>
            <a:ext cx="8488494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refine · Opus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916963" y="5319713"/>
            <a:ext cx="4993347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093221" y="5319713"/>
            <a:ext cx="3994629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2400" b="1" dirty="0">
                <a:solidFill>
                  <a:srgbClr val="C2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19.2%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123950" y="6933158"/>
            <a:ext cx="16040100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22" name="Text 20"/>
          <p:cNvSpPr/>
          <p:nvPr/>
        </p:nvSpPr>
        <p:spPr>
          <a:xfrm>
            <a:off x="1200150" y="6235973"/>
            <a:ext cx="8488494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dataset · Sonnet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916963" y="6235973"/>
            <a:ext cx="4993347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payload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3093221" y="6235973"/>
            <a:ext cx="3994629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2400" b="1" dirty="0">
                <a:solidFill>
                  <a:srgbClr val="C2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123950" y="7849419"/>
            <a:ext cx="16040100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26" name="Text 24"/>
          <p:cNvSpPr/>
          <p:nvPr/>
        </p:nvSpPr>
        <p:spPr>
          <a:xfrm>
            <a:off x="1200150" y="7152233"/>
            <a:ext cx="8488494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edit · Haiku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916963" y="7152233"/>
            <a:ext cx="4993347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cached-context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3093221" y="7152233"/>
            <a:ext cx="3994629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2400" b="1" dirty="0">
                <a:solidFill>
                  <a:srgbClr val="C2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123950" y="9124950"/>
            <a:ext cx="14716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is high-</a:t>
            </a:r>
            <a:r>
              <a:rPr lang="en-US" sz="22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latitude </a:t>
            </a: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every one is </a:t>
            </a:r>
            <a:r>
              <a:rPr lang="en-US" sz="22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low-fan-out</a:t>
            </a: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Not where we predicted the noise would be.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819150"/>
            <a:ext cx="1764411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288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37295"/>
            <a:ext cx="17644110" cy="8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850" kern="0" spc="-117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model is systematically noisier.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123950" y="2548086"/>
            <a:ext cx="5168875" cy="2663056"/>
          </a:xfrm>
          <a:prstGeom prst="roundRect">
            <a:avLst>
              <a:gd name="adj" fmla="val 2146"/>
            </a:avLst>
          </a:prstGeom>
          <a:solidFill>
            <a:srgbClr val="FFFFFF"/>
          </a:solidFill>
          <a:ln w="9525">
            <a:solidFill>
              <a:srgbClr val="E0DA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084" y="2938611"/>
            <a:ext cx="482660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950" kern="0" spc="195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4.5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084" y="3334792"/>
            <a:ext cx="4826608" cy="1127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800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295084" y="4424437"/>
            <a:ext cx="482660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CoV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59525" y="2548086"/>
            <a:ext cx="5168875" cy="2663056"/>
          </a:xfrm>
          <a:prstGeom prst="roundRect">
            <a:avLst>
              <a:gd name="adj" fmla="val 2146"/>
            </a:avLst>
          </a:prstGeom>
          <a:solidFill>
            <a:srgbClr val="FFFFFF"/>
          </a:solidFill>
          <a:ln w="9525">
            <a:solidFill>
              <a:srgbClr val="E0DA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30659" y="2938611"/>
            <a:ext cx="482660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950" kern="0" spc="195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4.6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730659" y="3334792"/>
            <a:ext cx="4826608" cy="1127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800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7800" dirty="0"/>
          </a:p>
        </p:txBody>
      </p:sp>
      <p:sp>
        <p:nvSpPr>
          <p:cNvPr id="11" name="Text 9"/>
          <p:cNvSpPr/>
          <p:nvPr/>
        </p:nvSpPr>
        <p:spPr>
          <a:xfrm>
            <a:off x="6730659" y="4424437"/>
            <a:ext cx="482660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CoV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995100" y="2548086"/>
            <a:ext cx="5168950" cy="2663056"/>
          </a:xfrm>
          <a:prstGeom prst="roundRect">
            <a:avLst>
              <a:gd name="adj" fmla="val 2146"/>
            </a:avLst>
          </a:prstGeom>
          <a:solidFill>
            <a:srgbClr val="FFFFFF"/>
          </a:solidFill>
          <a:ln w="9525">
            <a:solidFill>
              <a:srgbClr val="E0DA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6230" y="2938611"/>
            <a:ext cx="482669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950" kern="0" spc="195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4.8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166230" y="3334792"/>
            <a:ext cx="4826690" cy="1127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800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7800" dirty="0"/>
          </a:p>
        </p:txBody>
      </p:sp>
      <p:sp>
        <p:nvSpPr>
          <p:cNvPr id="15" name="Text 13"/>
          <p:cNvSpPr/>
          <p:nvPr/>
        </p:nvSpPr>
        <p:spPr>
          <a:xfrm>
            <a:off x="12166230" y="4424437"/>
            <a:ext cx="482669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CoV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23950" y="5592142"/>
            <a:ext cx="16040100" cy="2133451"/>
          </a:xfrm>
          <a:prstGeom prst="roundRect">
            <a:avLst>
              <a:gd name="adj" fmla="val 3572"/>
            </a:avLst>
          </a:prstGeom>
          <a:solidFill>
            <a:srgbClr val="E0F2FA"/>
          </a:solidFill>
          <a:ln/>
        </p:spPr>
      </p:sp>
      <p:sp>
        <p:nvSpPr>
          <p:cNvPr id="17" name="Text 15"/>
          <p:cNvSpPr/>
          <p:nvPr/>
        </p:nvSpPr>
        <p:spPr>
          <a:xfrm>
            <a:off x="1600200" y="5992192"/>
            <a:ext cx="586740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b="1" kern="0" spc="156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…BUT MODEL &amp; TASK INTERACT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600200" y="6483623"/>
            <a:ext cx="5494020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frozen dataset, “analyze a dataset”: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7306728" y="6089303"/>
            <a:ext cx="186278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850" dirty="0">
                <a:solidFill>
                  <a:srgbClr val="2F8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5850" dirty="0"/>
          </a:p>
        </p:txBody>
      </p:sp>
      <p:sp>
        <p:nvSpPr>
          <p:cNvPr id="20" name="Text 18"/>
          <p:cNvSpPr/>
          <p:nvPr/>
        </p:nvSpPr>
        <p:spPr>
          <a:xfrm>
            <a:off x="7306728" y="6832253"/>
            <a:ext cx="186278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Opus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522991" y="6308378"/>
            <a:ext cx="525959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34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3450" dirty="0"/>
          </a:p>
        </p:txBody>
      </p:sp>
      <p:sp>
        <p:nvSpPr>
          <p:cNvPr id="22" name="Text 20"/>
          <p:cNvSpPr/>
          <p:nvPr/>
        </p:nvSpPr>
        <p:spPr>
          <a:xfrm>
            <a:off x="10305566" y="6089303"/>
            <a:ext cx="231732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850" dirty="0">
                <a:solidFill>
                  <a:srgbClr val="C26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5850" dirty="0"/>
          </a:p>
        </p:txBody>
      </p:sp>
      <p:sp>
        <p:nvSpPr>
          <p:cNvPr id="23" name="Text 21"/>
          <p:cNvSpPr/>
          <p:nvPr/>
        </p:nvSpPr>
        <p:spPr>
          <a:xfrm>
            <a:off x="10305566" y="6832253"/>
            <a:ext cx="231732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Sonnet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2955712" y="6101655"/>
            <a:ext cx="2943225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~50× apart — so measure the specific model-on-task cell.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819150"/>
            <a:ext cx="1764411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288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37295"/>
            <a:ext cx="16521303" cy="1583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850" kern="0" spc="-117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tracks the model's degrees of freedom.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043940" y="3330253"/>
            <a:ext cx="274701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019550" y="3320728"/>
            <a:ext cx="1090687" cy="476250"/>
          </a:xfrm>
          <a:prstGeom prst="roundRect">
            <a:avLst>
              <a:gd name="adj" fmla="val 10000"/>
            </a:avLst>
          </a:prstGeom>
          <a:solidFill>
            <a:srgbClr val="008BD0"/>
          </a:solidFill>
          <a:ln/>
        </p:spPr>
      </p:sp>
      <p:sp>
        <p:nvSpPr>
          <p:cNvPr id="6" name="Text 4"/>
          <p:cNvSpPr/>
          <p:nvPr/>
        </p:nvSpPr>
        <p:spPr>
          <a:xfrm>
            <a:off x="5338837" y="3330253"/>
            <a:ext cx="72754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43940" y="3987478"/>
            <a:ext cx="274701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(prose to read)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4019550" y="4206553"/>
            <a:ext cx="2085156" cy="476250"/>
          </a:xfrm>
          <a:prstGeom prst="roundRect">
            <a:avLst>
              <a:gd name="adj" fmla="val 10000"/>
            </a:avLst>
          </a:prstGeom>
          <a:solidFill>
            <a:srgbClr val="008BD0"/>
          </a:solidFill>
          <a:ln/>
        </p:spPr>
      </p:sp>
      <p:sp>
        <p:nvSpPr>
          <p:cNvPr id="9" name="Text 7"/>
          <p:cNvSpPr/>
          <p:nvPr/>
        </p:nvSpPr>
        <p:spPr>
          <a:xfrm>
            <a:off x="6333306" y="4216078"/>
            <a:ext cx="72754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43940" y="5092378"/>
            <a:ext cx="274701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(text to write)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4019550" y="5311453"/>
            <a:ext cx="3609008" cy="476250"/>
          </a:xfrm>
          <a:prstGeom prst="roundRect">
            <a:avLst>
              <a:gd name="adj" fmla="val 10000"/>
            </a:avLst>
          </a:prstGeom>
          <a:solidFill>
            <a:srgbClr val="008BD0"/>
          </a:solidFill>
          <a:ln/>
        </p:spPr>
      </p:sp>
      <p:sp>
        <p:nvSpPr>
          <p:cNvPr id="12" name="Text 10"/>
          <p:cNvSpPr/>
          <p:nvPr/>
        </p:nvSpPr>
        <p:spPr>
          <a:xfrm>
            <a:off x="7857158" y="5320978"/>
            <a:ext cx="72754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43940" y="6206803"/>
            <a:ext cx="274701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cached-context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4019550" y="6197278"/>
            <a:ext cx="5132784" cy="476250"/>
          </a:xfrm>
          <a:prstGeom prst="roundRect">
            <a:avLst>
              <a:gd name="adj" fmla="val 10000"/>
            </a:avLst>
          </a:prstGeom>
          <a:solidFill>
            <a:srgbClr val="2F8F6B"/>
          </a:solidFill>
          <a:ln/>
        </p:spPr>
      </p:sp>
      <p:sp>
        <p:nvSpPr>
          <p:cNvPr id="15" name="Text 13"/>
          <p:cNvSpPr/>
          <p:nvPr/>
        </p:nvSpPr>
        <p:spPr>
          <a:xfrm>
            <a:off x="9380934" y="6206803"/>
            <a:ext cx="72754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43940" y="6873553"/>
            <a:ext cx="274701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(multi-turn)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4019550" y="6864028"/>
            <a:ext cx="6816998" cy="476250"/>
          </a:xfrm>
          <a:prstGeom prst="roundRect">
            <a:avLst>
              <a:gd name="adj" fmla="val 10000"/>
            </a:avLst>
          </a:prstGeom>
          <a:solidFill>
            <a:srgbClr val="C2872A"/>
          </a:solidFill>
          <a:ln/>
        </p:spPr>
      </p:sp>
      <p:sp>
        <p:nvSpPr>
          <p:cNvPr id="18" name="Text 16"/>
          <p:cNvSpPr/>
          <p:nvPr/>
        </p:nvSpPr>
        <p:spPr>
          <a:xfrm>
            <a:off x="11065148" y="6873553"/>
            <a:ext cx="72754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43940" y="7530778"/>
            <a:ext cx="2747010" cy="1013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(reasoning depth)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019550" y="7780288"/>
            <a:ext cx="11997630" cy="47625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16245780" y="7759303"/>
            <a:ext cx="994470" cy="5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123950" y="8734648"/>
            <a:ext cx="1530477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CoV by cost axis. The more freedom the model has over </a:t>
            </a:r>
            <a:r>
              <a:rPr lang="en-US" sz="22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to produce </a:t>
            </a: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wider the band — open-ended thinking is the only axis in the danger zone, ~8× the bounded tasks.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819150"/>
            <a:ext cx="1764411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288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— THE PROOF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18245"/>
            <a:ext cx="1764411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50" kern="0" spc="-8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is frozen, so 100% of the variance lives in the output.</a:t>
            </a:r>
            <a:endParaRPr lang="en-US" sz="4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950" y="2138883"/>
            <a:ext cx="8646542" cy="6989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1623" y="9185970"/>
            <a:ext cx="9511196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 of the output component (%) →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246742" y="2732112"/>
            <a:ext cx="7124827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frozen artifact tokenizes to the </a:t>
            </a:r>
            <a:r>
              <a:rPr lang="en-US" sz="25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tokens every run </a:t>
            </a:r>
            <a:r>
              <a:rPr lang="en-US" sz="2550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input variability is </a:t>
            </a:r>
            <a:r>
              <a:rPr lang="en-US" sz="2550" b="1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0% </a:t>
            </a:r>
            <a:r>
              <a:rPr lang="en-US" sz="2550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on every cell.</a:t>
            </a:r>
            <a:endParaRPr lang="en-US" sz="2550" dirty="0"/>
          </a:p>
        </p:txBody>
      </p:sp>
      <p:sp>
        <p:nvSpPr>
          <p:cNvPr id="7" name="Shape 4"/>
          <p:cNvSpPr/>
          <p:nvPr/>
        </p:nvSpPr>
        <p:spPr>
          <a:xfrm>
            <a:off x="10246742" y="4377854"/>
            <a:ext cx="6917308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8" name="Text 5"/>
          <p:cNvSpPr/>
          <p:nvPr/>
        </p:nvSpPr>
        <p:spPr>
          <a:xfrm>
            <a:off x="10246742" y="4673129"/>
            <a:ext cx="7124827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point sits on or below the diagonal. The drop below it is </a:t>
            </a:r>
            <a:r>
              <a:rPr lang="en-US" sz="22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dilution </a:t>
            </a: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variable output that barely moves the bill because it's a small share of cost.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10246742" y="6201891"/>
            <a:ext cx="6917308" cy="2786955"/>
          </a:xfrm>
          <a:prstGeom prst="roundRect">
            <a:avLst>
              <a:gd name="adj" fmla="val 2734"/>
            </a:avLst>
          </a:prstGeom>
          <a:solidFill>
            <a:srgbClr val="FFFFFF"/>
          </a:solidFill>
          <a:ln w="9525">
            <a:solidFill>
              <a:srgbClr val="E0DAC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80117" y="6497166"/>
            <a:ext cx="6875614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b="1" kern="0" spc="156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TASK #18, TWO MODELS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0580117" y="7026697"/>
            <a:ext cx="6438075" cy="170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75" b="1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#18-opus </a:t>
            </a:r>
            <a:r>
              <a:rPr lang="en-US" sz="2175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short, consistent output (8% of cost) → 0.3% </a:t>
            </a:r>
            <a:r>
              <a:rPr lang="en-US" sz="2175" b="1" dirty="0">
                <a:solidFill>
                  <a:srgbClr val="C26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#18-sonnet </a:t>
            </a:r>
            <a:r>
              <a:rPr lang="en-US" sz="2175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long, variable output (89% of cost) → 16.7%</a:t>
            </a:r>
            <a:endParaRPr lang="en-US" sz="21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3099495"/>
            <a:ext cx="1764411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288" dirty="0">
                <a:solidFill>
                  <a:srgbClr val="34A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RULE EXPLAINS EVERY CASE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3750990"/>
            <a:ext cx="1764411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950" kern="0" spc="-7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variability = </a:t>
            </a:r>
            <a:r>
              <a:rPr lang="en-US" sz="4950" kern="0" spc="-74" dirty="0">
                <a:solidFill>
                  <a:srgbClr val="34A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variability </a:t>
            </a:r>
            <a:r>
              <a:rPr lang="en-US" sz="4950" kern="0" spc="-7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</a:t>
            </a:r>
            <a:r>
              <a:rPr lang="en-US" sz="4950" kern="0" spc="-74" dirty="0">
                <a:solidFill>
                  <a:srgbClr val="7BC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output's share of cost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123950" y="5095875"/>
            <a:ext cx="5181600" cy="2205930"/>
          </a:xfrm>
          <a:prstGeom prst="roundRect">
            <a:avLst>
              <a:gd name="adj" fmla="val 345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57325" y="5429250"/>
            <a:ext cx="496633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kern="0" spc="156" dirty="0">
                <a:solidFill>
                  <a:srgbClr val="9DB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 PINNED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57325" y="5939730"/>
            <a:ext cx="465029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57325" y="6568380"/>
            <a:ext cx="496633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9DB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~1% × 88% = </a:t>
            </a:r>
            <a:r>
              <a:rPr lang="en-US" sz="2100" b="1" dirty="0">
                <a:solidFill>
                  <a:srgbClr val="7BC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~1%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553200" y="5095875"/>
            <a:ext cx="5181600" cy="2205930"/>
          </a:xfrm>
          <a:prstGeom prst="roundRect">
            <a:avLst>
              <a:gd name="adj" fmla="val 345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86575" y="5429250"/>
            <a:ext cx="496633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kern="0" spc="156" dirty="0">
                <a:solidFill>
                  <a:srgbClr val="9DB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 DILUTED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886575" y="5939730"/>
            <a:ext cx="465029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a big doc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886575" y="6568380"/>
            <a:ext cx="496633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9DB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 × 7% = </a:t>
            </a:r>
            <a:r>
              <a:rPr lang="en-US" sz="2100" b="1" dirty="0">
                <a:solidFill>
                  <a:srgbClr val="7BC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982450" y="5095875"/>
            <a:ext cx="5181600" cy="2205930"/>
          </a:xfrm>
          <a:prstGeom prst="roundRect">
            <a:avLst>
              <a:gd name="adj" fmla="val 3454"/>
            </a:avLst>
          </a:prstGeom>
          <a:solidFill>
            <a:srgbClr val="C0392B">
              <a:alpha val="14000"/>
            </a:srgbClr>
          </a:solidFill>
          <a:ln w="9525">
            <a:solidFill>
              <a:srgbClr val="E06E5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15825" y="5429250"/>
            <a:ext cx="496633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kern="0" spc="156" dirty="0">
                <a:solidFill>
                  <a:srgbClr val="E89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→ UNBANDABLE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315825" y="5939730"/>
            <a:ext cx="465029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 strategy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315825" y="6568380"/>
            <a:ext cx="496633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9DB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15–20% × 91–99% = </a:t>
            </a:r>
            <a:r>
              <a:rPr lang="en-US" sz="2100" b="1" dirty="0">
                <a:solidFill>
                  <a:srgbClr val="E89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15–20%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819150"/>
            <a:ext cx="1764411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288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37295"/>
            <a:ext cx="17644110" cy="8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850" kern="0" spc="-117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levers move a task into budget range.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123950" y="2509986"/>
            <a:ext cx="7867650" cy="6310164"/>
          </a:xfrm>
          <a:prstGeom prst="roundRect">
            <a:avLst>
              <a:gd name="adj" fmla="val 1208"/>
            </a:avLst>
          </a:prstGeom>
          <a:solidFill>
            <a:srgbClr val="FFFFFF"/>
          </a:solidFill>
          <a:ln w="9525">
            <a:solidFill>
              <a:srgbClr val="E0DA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1625" y="2938611"/>
            <a:ext cx="3672036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b="1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A — pin the output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4373" y="2990999"/>
            <a:ext cx="2009552" cy="449535"/>
          </a:xfrm>
          <a:prstGeom prst="roundRect">
            <a:avLst>
              <a:gd name="adj" fmla="val 42377"/>
            </a:avLst>
          </a:prstGeom>
          <a:solidFill>
            <a:srgbClr val="C2872A">
              <a:alpha val="13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48673" y="3048149"/>
            <a:ext cx="1857152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b="1" kern="0" spc="99" dirty="0">
                <a:solidFill>
                  <a:srgbClr val="C2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HYPOTHESIZED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571625" y="3650084"/>
            <a:ext cx="7181469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 what and how much the model generates — skills, scripts, schemas, length caps — to lower output variability.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71625" y="7599164"/>
            <a:ext cx="7181469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proven causally. The §6 A/B is built to test exactly this.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296400" y="2509986"/>
            <a:ext cx="7867650" cy="6310164"/>
          </a:xfrm>
          <a:prstGeom prst="roundRect">
            <a:avLst>
              <a:gd name="adj" fmla="val 1208"/>
            </a:avLst>
          </a:prstGeom>
          <a:solidFill>
            <a:srgbClr val="FFFFFF"/>
          </a:solidFill>
          <a:ln w="9525">
            <a:solidFill>
              <a:srgbClr val="E0DA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44075" y="2938611"/>
            <a:ext cx="4063142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b="1" dirty="0">
                <a:solidFill>
                  <a:srgbClr val="2F8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B — dilute the output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4780196" y="2990999"/>
            <a:ext cx="1936179" cy="449535"/>
          </a:xfrm>
          <a:prstGeom prst="roundRect">
            <a:avLst>
              <a:gd name="adj" fmla="val 42377"/>
            </a:avLst>
          </a:prstGeom>
          <a:solidFill>
            <a:srgbClr val="2F8F6B">
              <a:alpha val="13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4894496" y="3048149"/>
            <a:ext cx="1783779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b="1" kern="0" spc="99" dirty="0">
                <a:solidFill>
                  <a:srgbClr val="2F8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ALGEBRA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744075" y="3650084"/>
            <a:ext cx="7181469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deterministic cost a large share. A big fixed context mechanically drops the multiplier — it falls straight out of the identity.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744075" y="7599164"/>
            <a:ext cx="7181469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is a </a:t>
            </a:r>
            <a:r>
              <a:rPr lang="en-US" sz="19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</a:t>
            </a:r>
            <a:r>
              <a:rPr lang="en-US" sz="1950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lever, not a variance lever — the size of the fixed mass is what tightens the band.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23950" y="9124950"/>
            <a:ext cx="1652130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 reasoning resists both — the reasoning </a:t>
            </a:r>
            <a:r>
              <a:rPr lang="en-US" sz="2250" i="1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</a:t>
            </a: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and </a:t>
            </a:r>
            <a:r>
              <a:rPr lang="en-US" sz="2250" i="1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</a:t>
            </a: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cost. That's the hard case.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819150"/>
            <a:ext cx="1764411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288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 — WHAT WE PREDICTED VS. WHAT WE FOUND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37295"/>
            <a:ext cx="17644110" cy="8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850" kern="0" spc="-117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won't retrofit the prediction to the data.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123950" y="2529036"/>
            <a:ext cx="7867650" cy="5290989"/>
          </a:xfrm>
          <a:prstGeom prst="roundRect">
            <a:avLst>
              <a:gd name="adj" fmla="val 1440"/>
            </a:avLst>
          </a:prstGeom>
          <a:solidFill>
            <a:srgbClr val="FFFFFF"/>
          </a:solidFill>
          <a:ln w="9525">
            <a:solidFill>
              <a:srgbClr val="E0DA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2575" y="2938611"/>
            <a:ext cx="771144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b="1" kern="0" spc="195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PREDICTED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552575" y="3506242"/>
            <a:ext cx="771144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70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tracks fan-out.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552575" y="4207222"/>
            <a:ext cx="722071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Low-fan-out cells tight, high-fan-out cells noisy. “Surprised if a discrete cell is noisy.”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296400" y="2529036"/>
            <a:ext cx="7867650" cy="5290989"/>
          </a:xfrm>
          <a:prstGeom prst="roundRect">
            <a:avLst>
              <a:gd name="adj" fmla="val 1440"/>
            </a:avLst>
          </a:prstGeom>
          <a:solidFill>
            <a:srgbClr val="FFFFFF"/>
          </a:solidFill>
          <a:ln w="9525">
            <a:solidFill>
              <a:srgbClr val="E0DA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25025" y="2938611"/>
            <a:ext cx="771144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b="1" kern="0" spc="195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FOUND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725025" y="3506242"/>
            <a:ext cx="771144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70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noise tracks output latitude.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725025" y="4207222"/>
            <a:ext cx="722071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fan-out half is </a:t>
            </a:r>
            <a:r>
              <a:rPr lang="en-US" sz="22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untested </a:t>
            </a: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(deferred). The noisy low-fan-out cells track a driver we hadn't named.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123950" y="8105775"/>
            <a:ext cx="16040100" cy="1476375"/>
          </a:xfrm>
          <a:prstGeom prst="roundRect">
            <a:avLst>
              <a:gd name="adj" fmla="val 5161"/>
            </a:avLst>
          </a:prstGeom>
          <a:solidFill>
            <a:srgbClr val="E0F2FA"/>
          </a:solidFill>
          <a:ln/>
        </p:spPr>
      </p:sp>
      <p:sp>
        <p:nvSpPr>
          <p:cNvPr id="13" name="Text 11"/>
          <p:cNvSpPr/>
          <p:nvPr/>
        </p:nvSpPr>
        <p:spPr>
          <a:xfrm>
            <a:off x="1543050" y="8429625"/>
            <a:ext cx="1568310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1C1813"/>
                </a:solidFill>
                <a:highlight>
                  <a:srgbClr val="E0F2F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Logged as an </a:t>
            </a:r>
            <a:r>
              <a:rPr lang="en-US" sz="22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unplanned, post-hoc finding </a:t>
            </a:r>
            <a:r>
              <a:rPr lang="en-US" sz="2250" dirty="0">
                <a:solidFill>
                  <a:srgbClr val="1C1813"/>
                </a:solidFill>
                <a:highlight>
                  <a:srgbClr val="E0F2F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flagged, not folded into the pre-registration. Neither a confirmation nor a clean refutation. </a:t>
            </a:r>
            <a:r>
              <a:rPr lang="en-US" sz="2250" b="1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kill-condition has not been triggered.</a:t>
            </a:r>
            <a:endParaRPr lang="en-US" sz="2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819150"/>
            <a:ext cx="1764411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288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37295"/>
            <a:ext cx="17644110" cy="8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850" kern="0" spc="-117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not claiming.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123950" y="4668813"/>
            <a:ext cx="16040100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5" name="Text 3"/>
          <p:cNvSpPr/>
          <p:nvPr/>
        </p:nvSpPr>
        <p:spPr>
          <a:xfrm>
            <a:off x="1123950" y="3438302"/>
            <a:ext cx="647700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3450" dirty="0">
                <a:solidFill>
                  <a:srgbClr val="C26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981200" y="3438302"/>
            <a:ext cx="16158597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70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half is untested — and our prediction was about exactly that half.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981200" y="4063082"/>
            <a:ext cx="16158597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high-fan-out agentic tasks were not in this run, so the fan-out prediction is untested and the kill-condition cannot have fired.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23950" y="6118399"/>
            <a:ext cx="16040100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9" name="Text 7"/>
          <p:cNvSpPr/>
          <p:nvPr/>
        </p:nvSpPr>
        <p:spPr>
          <a:xfrm>
            <a:off x="1123950" y="4887888"/>
            <a:ext cx="647700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3450" dirty="0">
                <a:solidFill>
                  <a:srgbClr val="C26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981200" y="4887888"/>
            <a:ext cx="15948801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70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correlation, not yet a cause.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981200" y="5512668"/>
            <a:ext cx="1594880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“Variance tracks latitude” is observed across task types — we haven't yet manipulated one task's determinism to prove the link.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23950" y="6337474"/>
            <a:ext cx="647700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3450" dirty="0">
                <a:solidFill>
                  <a:srgbClr val="C26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981200" y="6337474"/>
            <a:ext cx="12684323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70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snapshot.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981200" y="6962254"/>
            <a:ext cx="12684323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run, N = 20, June-2026 models and prices — a point-in-time prior, not a permanent constant.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23950" y="8591550"/>
            <a:ext cx="15893415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000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“AI cost is predictable.” Narrower: </a:t>
            </a:r>
            <a:r>
              <a:rPr lang="en-US" sz="300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discrete tasks it is — and here's a rule for telling which.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819150"/>
            <a:ext cx="1764411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288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37295"/>
            <a:ext cx="17644110" cy="8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850" kern="0" spc="-117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 for managing intelligence.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123950" y="2567136"/>
            <a:ext cx="5168875" cy="7015014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9525">
            <a:solidFill>
              <a:srgbClr val="E0DA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14475" y="2976711"/>
            <a:ext cx="451946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vs. meter, before you run.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14475" y="4024461"/>
            <a:ext cx="4519460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75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Per-task budgeting is coherent for most tasks. You can label a task from its structure — its latitude — before a single call.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6559525" y="2567136"/>
            <a:ext cx="5168875" cy="7015014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9525">
            <a:solidFill>
              <a:srgbClr val="E0DA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50050" y="2976711"/>
            <a:ext cx="451946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instrument, not a price sheet.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950050" y="4024461"/>
            <a:ext cx="4519460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75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Bands are model- and tokenizer-specific and shift each generation. The durable thing is the machine that re-measures them.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11995100" y="2567136"/>
            <a:ext cx="5168950" cy="7015014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9525">
            <a:solidFill>
              <a:srgbClr val="E0DA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5625" y="2976711"/>
            <a:ext cx="451953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Determinism is a cost lever.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385625" y="4024461"/>
            <a:ext cx="4519537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75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Skills, scripting and a large fixed context move a task from “meter it” to “budget it” — a predictability story, not just a quality one.</a:t>
            </a:r>
            <a:endParaRPr lang="en-US" sz="21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819150"/>
            <a:ext cx="1764411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288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37295"/>
            <a:ext cx="17644110" cy="8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850" kern="0" spc="-117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follow-ons, in priority order.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123950" y="3657228"/>
            <a:ext cx="16040100" cy="2284065"/>
          </a:xfrm>
          <a:prstGeom prst="roundRect">
            <a:avLst>
              <a:gd name="adj" fmla="val 333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123950" y="5931768"/>
            <a:ext cx="16040100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6" name="Shape 4"/>
          <p:cNvSpPr/>
          <p:nvPr/>
        </p:nvSpPr>
        <p:spPr>
          <a:xfrm>
            <a:off x="1123950" y="3657228"/>
            <a:ext cx="16040100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7" name="Shape 5"/>
          <p:cNvSpPr/>
          <p:nvPr/>
        </p:nvSpPr>
        <p:spPr>
          <a:xfrm>
            <a:off x="1123950" y="3657228"/>
            <a:ext cx="57150" cy="2284065"/>
          </a:xfrm>
          <a:prstGeom prst="rect">
            <a:avLst/>
          </a:prstGeom>
          <a:solidFill>
            <a:srgbClr val="008BD0"/>
          </a:solidFill>
          <a:ln/>
        </p:spPr>
      </p:sp>
      <p:sp>
        <p:nvSpPr>
          <p:cNvPr id="8" name="Shape 6"/>
          <p:cNvSpPr/>
          <p:nvPr/>
        </p:nvSpPr>
        <p:spPr>
          <a:xfrm>
            <a:off x="17154525" y="3657228"/>
            <a:ext cx="9525" cy="228406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9" name="Text 7"/>
          <p:cNvSpPr/>
          <p:nvPr/>
        </p:nvSpPr>
        <p:spPr>
          <a:xfrm>
            <a:off x="1619250" y="4370636"/>
            <a:ext cx="102974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75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1b</a:t>
            </a:r>
            <a:endParaRPr lang="en-US" sz="6750" dirty="0"/>
          </a:p>
        </p:txBody>
      </p:sp>
      <p:sp>
        <p:nvSpPr>
          <p:cNvPr id="10" name="Text 8"/>
          <p:cNvSpPr/>
          <p:nvPr/>
        </p:nvSpPr>
        <p:spPr>
          <a:xfrm>
            <a:off x="2953792" y="4047753"/>
            <a:ext cx="15138842" cy="61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8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the agentic regime.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2953792" y="4722093"/>
            <a:ext cx="14175461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deferred high-fan-out tasks the same disciplined way — the only thing that can fire or clear the kill-condition, and the answer to “you only covered the easy tasks.”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123950" y="6207993"/>
            <a:ext cx="16040100" cy="2284065"/>
          </a:xfrm>
          <a:prstGeom prst="roundRect">
            <a:avLst>
              <a:gd name="adj" fmla="val 3336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3950" y="8482533"/>
            <a:ext cx="16040100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950" y="6207993"/>
            <a:ext cx="16040100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3950" y="6207993"/>
            <a:ext cx="57150" cy="2284065"/>
          </a:xfrm>
          <a:prstGeom prst="rect">
            <a:avLst/>
          </a:prstGeom>
          <a:solidFill>
            <a:srgbClr val="2F8F6B"/>
          </a:solidFill>
          <a:ln/>
        </p:spPr>
      </p:sp>
      <p:sp>
        <p:nvSpPr>
          <p:cNvPr id="16" name="Shape 14"/>
          <p:cNvSpPr/>
          <p:nvPr/>
        </p:nvSpPr>
        <p:spPr>
          <a:xfrm>
            <a:off x="17154525" y="6207993"/>
            <a:ext cx="9525" cy="228406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17" name="Text 15"/>
          <p:cNvSpPr/>
          <p:nvPr/>
        </p:nvSpPr>
        <p:spPr>
          <a:xfrm>
            <a:off x="1619250" y="6921401"/>
            <a:ext cx="151997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750" dirty="0">
                <a:solidFill>
                  <a:srgbClr val="2F8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</a:t>
            </a:r>
            <a:endParaRPr lang="en-US" sz="6750" dirty="0"/>
          </a:p>
        </p:txBody>
      </p:sp>
      <p:sp>
        <p:nvSpPr>
          <p:cNvPr id="18" name="Text 16"/>
          <p:cNvSpPr/>
          <p:nvPr/>
        </p:nvSpPr>
        <p:spPr>
          <a:xfrm>
            <a:off x="3382045" y="6598518"/>
            <a:ext cx="14667763" cy="61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850" b="1" dirty="0">
                <a:solidFill>
                  <a:srgbClr val="1C18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two-lever model causally.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3382045" y="7272858"/>
            <a:ext cx="1373436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6E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fixed task, prompted vs. skill-scripted, model held constant — does the band tighten, does it get cheaper, and does a cheaper model now match a premium one on quality?</a:t>
            </a:r>
            <a:endParaRPr lang="en-US" sz="2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819150"/>
            <a:ext cx="1764411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324" dirty="0">
                <a:solidFill>
                  <a:srgbClr val="34A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CLAIM, NARROWED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3270572"/>
            <a:ext cx="15893415" cy="2877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900" kern="0" spc="-1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discrete tasks, token cost is </a:t>
            </a:r>
            <a:r>
              <a:rPr lang="en-US" sz="6900" kern="0" spc="-138" dirty="0">
                <a:solidFill>
                  <a:srgbClr val="34A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budgetable </a:t>
            </a:r>
            <a:r>
              <a:rPr lang="en-US" sz="6900" kern="0" spc="-1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we have a rule for telling which tasks those are.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123950" y="6490767"/>
            <a:ext cx="1589341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3000" dirty="0">
                <a:solidFill>
                  <a:srgbClr val="9DB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variability = output variability × output's share of cost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3950" y="9185970"/>
            <a:ext cx="7751222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9DB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Intelligence · Experiment 1 — Phase 1a · 2026-06-25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31676" y="9185970"/>
            <a:ext cx="4655612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9DB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Phase 1b — the agentic regime.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6432</TotalTime>
  <Words>3171</Words>
  <Application>Microsoft Macintosh PowerPoint</Application>
  <PresentationFormat>Custom</PresentationFormat>
  <Paragraphs>255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Sweatt</cp:lastModifiedBy>
  <cp:revision>2</cp:revision>
  <cp:lastPrinted>2026-07-05T13:06:53Z</cp:lastPrinted>
  <dcterms:created xsi:type="dcterms:W3CDTF">2026-06-28T00:50:35Z</dcterms:created>
  <dcterms:modified xsi:type="dcterms:W3CDTF">2026-07-09T14:28:07Z</dcterms:modified>
</cp:coreProperties>
</file>